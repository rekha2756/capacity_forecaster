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2.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70" r:id="rId11"/>
    <p:sldId id="267" r:id="rId12"/>
  </p:sldIdLst>
  <p:sldSz cx="18288000" cy="10287000"/>
  <p:notesSz cx="6858000" cy="9144000"/>
  <p:embeddedFontLst>
    <p:embeddedFont>
      <p:font typeface="SimSun" panose="02010600030101010101" pitchFamily="2" charset="-122"/>
      <p:regular r:id="rId16"/>
    </p:embeddedFont>
    <p:embeddedFont>
      <p:font typeface="Poppins Bold" panose="00000800000000000000"/>
      <p:bold r:id="rId17"/>
    </p:embeddedFont>
    <p:embeddedFont>
      <p:font typeface="Poppins" panose="00000500000000000000"/>
      <p:regular r:id="rId18"/>
    </p:embeddedFont>
    <p:embeddedFont>
      <p:font typeface="Bricolage Grotesque" panose="020B0605040402000204"/>
      <p:regular r:id="rId19"/>
    </p:embeddedFont>
    <p:embeddedFont>
      <p:font typeface="Bricolage Grotesque Bold" panose="020B0605040402000204"/>
      <p:bold r:id="rId20"/>
    </p:embeddedFont>
    <p:embeddedFont>
      <p:font typeface="Calibri" panose="020F0502020204030204"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36"/>
        <p:guide pos="288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font" Target="fonts/font9.fntdata"/><Relationship Id="rId23" Type="http://schemas.openxmlformats.org/officeDocument/2006/relationships/font" Target="fonts/font8.fntdata"/><Relationship Id="rId22" Type="http://schemas.openxmlformats.org/officeDocument/2006/relationships/font" Target="fonts/font7.fntdata"/><Relationship Id="rId21" Type="http://schemas.openxmlformats.org/officeDocument/2006/relationships/font" Target="fonts/font6.fntdata"/><Relationship Id="rId20" Type="http://schemas.openxmlformats.org/officeDocument/2006/relationships/font" Target="fonts/font5.fntdata"/><Relationship Id="rId2" Type="http://schemas.openxmlformats.org/officeDocument/2006/relationships/theme" Target="theme/theme1.xml"/><Relationship Id="rId19" Type="http://schemas.openxmlformats.org/officeDocument/2006/relationships/font" Target="fonts/font4.fntdata"/><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jpeg"/><Relationship Id="rId2" Type="http://schemas.openxmlformats.org/officeDocument/2006/relationships/image" Target="../media/image2.sv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6.png"/><Relationship Id="rId2" Type="http://schemas.openxmlformats.org/officeDocument/2006/relationships/image" Target="../media/image2.sv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2415882" cy="10287000"/>
            <a:chOff x="0" y="0"/>
            <a:chExt cx="636282" cy="2709333"/>
          </a:xfrm>
        </p:grpSpPr>
        <p:sp>
          <p:nvSpPr>
            <p:cNvPr id="3" name="Freeform 3"/>
            <p:cNvSpPr/>
            <p:nvPr/>
          </p:nvSpPr>
          <p:spPr>
            <a:xfrm>
              <a:off x="0" y="0"/>
              <a:ext cx="636282" cy="2709333"/>
            </a:xfrm>
            <a:custGeom>
              <a:avLst/>
              <a:gdLst/>
              <a:ahLst/>
              <a:cxnLst/>
              <a:rect l="l" t="t" r="r" b="b"/>
              <a:pathLst>
                <a:path w="636282" h="2709333">
                  <a:moveTo>
                    <a:pt x="0" y="0"/>
                  </a:moveTo>
                  <a:lnTo>
                    <a:pt x="636282" y="0"/>
                  </a:lnTo>
                  <a:lnTo>
                    <a:pt x="636282" y="2709333"/>
                  </a:lnTo>
                  <a:lnTo>
                    <a:pt x="0" y="2709333"/>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4" name="TextBox 4"/>
            <p:cNvSpPr txBox="1"/>
            <p:nvPr/>
          </p:nvSpPr>
          <p:spPr>
            <a:xfrm>
              <a:off x="0" y="-38100"/>
              <a:ext cx="636282" cy="2747433"/>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7" name="Group 7"/>
          <p:cNvGrpSpPr/>
          <p:nvPr/>
        </p:nvGrpSpPr>
        <p:grpSpPr>
          <a:xfrm rot="0">
            <a:off x="12626975" y="6286500"/>
            <a:ext cx="4037330" cy="2814320"/>
            <a:chOff x="0" y="47625"/>
            <a:chExt cx="3803227" cy="3752428"/>
          </a:xfrm>
        </p:grpSpPr>
        <p:grpSp>
          <p:nvGrpSpPr>
            <p:cNvPr id="8" name="Group 8"/>
            <p:cNvGrpSpPr/>
            <p:nvPr/>
          </p:nvGrpSpPr>
          <p:grpSpPr>
            <a:xfrm rot="0">
              <a:off x="0" y="385418"/>
              <a:ext cx="134591" cy="13459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0" name="TextBox 10"/>
              <p:cNvSpPr txBox="1"/>
              <p:nvPr/>
            </p:nvSpPr>
            <p:spPr>
              <a:xfrm>
                <a:off x="76200" y="104775"/>
                <a:ext cx="660400" cy="631825"/>
              </a:xfrm>
              <a:prstGeom prst="rect">
                <a:avLst/>
              </a:prstGeom>
            </p:spPr>
            <p:txBody>
              <a:bodyPr lIns="50800" tIns="50800" rIns="50800" bIns="50800" rtlCol="0" anchor="ctr"/>
              <a:lstStyle/>
              <a:p>
                <a:pPr marL="0" lvl="0" indent="0" algn="ctr">
                  <a:lnSpc>
                    <a:spcPts val="1310"/>
                  </a:lnSpc>
                </a:pPr>
              </a:p>
            </p:txBody>
          </p:sp>
        </p:grpSp>
        <p:sp>
          <p:nvSpPr>
            <p:cNvPr id="11" name="TextBox 11"/>
            <p:cNvSpPr txBox="1"/>
            <p:nvPr/>
          </p:nvSpPr>
          <p:spPr>
            <a:xfrm>
              <a:off x="506484" y="47625"/>
              <a:ext cx="2749098" cy="639234"/>
            </a:xfrm>
            <a:prstGeom prst="rect">
              <a:avLst/>
            </a:prstGeom>
          </p:spPr>
          <p:txBody>
            <a:bodyPr lIns="0" tIns="0" rIns="0" bIns="0" rtlCol="0" anchor="t">
              <a:spAutoFit/>
            </a:bodyPr>
            <a:lstStyle/>
            <a:p>
              <a:pPr marL="0" lvl="0" indent="0" algn="l">
                <a:lnSpc>
                  <a:spcPts val="1870"/>
                </a:lnSpc>
              </a:pPr>
              <a:endParaRPr lang="en-US" sz="2800" b="1">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a:p>
              <a:pPr marL="0" lvl="0" indent="0" algn="l">
                <a:lnSpc>
                  <a:spcPts val="1870"/>
                </a:lnSpc>
              </a:pPr>
              <a:r>
                <a:rPr lang="en-US" sz="2800" b="1">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PRESENTED BY</a:t>
              </a:r>
              <a:endParaRPr lang="en-US" sz="2800" b="1">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12" name="TextBox 12"/>
            <p:cNvSpPr txBox="1"/>
            <p:nvPr/>
          </p:nvSpPr>
          <p:spPr>
            <a:xfrm>
              <a:off x="506484" y="536670"/>
              <a:ext cx="3190280" cy="597747"/>
            </a:xfrm>
            <a:prstGeom prst="rect">
              <a:avLst/>
            </a:prstGeom>
          </p:spPr>
          <p:txBody>
            <a:bodyPr lIns="0" tIns="0" rIns="0" bIns="0" rtlCol="0" anchor="t">
              <a:spAutoFit/>
            </a:bodyPr>
            <a:lstStyle/>
            <a:p>
              <a:pPr marL="0" lvl="0" indent="0" algn="l">
                <a:lnSpc>
                  <a:spcPts val="1750"/>
                </a:lnSpc>
              </a:pPr>
              <a:endPar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a:p>
              <a:pPr marL="0" lvl="0" indent="0" algn="l">
                <a:lnSpc>
                  <a:spcPts val="1750"/>
                </a:lnSpc>
              </a:pPr>
              <a:r>
                <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Team - 05</a:t>
              </a:r>
              <a:endPar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506484" y="1323462"/>
              <a:ext cx="2749098" cy="639234"/>
            </a:xfrm>
            <a:prstGeom prst="rect">
              <a:avLst/>
            </a:prstGeom>
          </p:spPr>
          <p:txBody>
            <a:bodyPr lIns="0" tIns="0" rIns="0" bIns="0" rtlCol="0" anchor="t">
              <a:spAutoFit/>
            </a:bodyPr>
            <a:lstStyle/>
            <a:p>
              <a:pPr marL="0" lvl="0" indent="0" algn="l">
                <a:lnSpc>
                  <a:spcPts val="1870"/>
                </a:lnSpc>
              </a:pPr>
              <a:endParaRPr lang="en-IN" altLang="en-US" sz="2800" b="1">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a:p>
              <a:pPr marL="0" lvl="0" indent="0" algn="l">
                <a:lnSpc>
                  <a:spcPts val="1870"/>
                </a:lnSpc>
              </a:pPr>
              <a:r>
                <a:rPr lang="en-IN" altLang="en-US" sz="2800" b="1">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Team members</a:t>
              </a:r>
              <a:endParaRPr lang="en-IN" altLang="en-US" sz="2800" b="1">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551180" y="1859492"/>
              <a:ext cx="3252047" cy="1940561"/>
            </a:xfrm>
            <a:prstGeom prst="rect">
              <a:avLst/>
            </a:prstGeom>
          </p:spPr>
          <p:txBody>
            <a:bodyPr lIns="0" tIns="0" rIns="0" bIns="0" rtlCol="0" anchor="t">
              <a:noAutofit/>
            </a:bodyPr>
            <a:lstStyle/>
            <a:p>
              <a:pPr marL="0" lvl="0" indent="0" algn="l">
                <a:lnSpc>
                  <a:spcPts val="1750"/>
                </a:lnSpc>
              </a:pPr>
              <a:endPar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a:p>
              <a:pPr marL="0" lvl="0" indent="0" algn="l">
                <a:lnSpc>
                  <a:spcPct val="100000"/>
                </a:lnSpc>
              </a:pPr>
              <a:r>
                <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P.Sreeja</a:t>
              </a:r>
              <a:endPar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a:p>
              <a:pPr marL="0" lvl="0" indent="0" algn="l">
                <a:lnSpc>
                  <a:spcPct val="100000"/>
                </a:lnSpc>
              </a:pPr>
              <a:r>
                <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G.Rekha</a:t>
              </a:r>
              <a:endPar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a:p>
              <a:pPr marL="0" lvl="0" indent="0" algn="l">
                <a:lnSpc>
                  <a:spcPct val="100000"/>
                </a:lnSpc>
              </a:pPr>
              <a:r>
                <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C.Sindhu</a:t>
              </a:r>
              <a:endPar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a:p>
              <a:pPr marL="0" lvl="0" indent="0" algn="l">
                <a:lnSpc>
                  <a:spcPct val="100000"/>
                </a:lnSpc>
              </a:pPr>
              <a:r>
                <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K.Varshitha</a:t>
              </a:r>
              <a:endParaRPr lang="en-IN" altLang="en-US" sz="2400">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p:txBody>
        </p:sp>
        <p:grpSp>
          <p:nvGrpSpPr>
            <p:cNvPr id="15" name="Group 15"/>
            <p:cNvGrpSpPr/>
            <p:nvPr/>
          </p:nvGrpSpPr>
          <p:grpSpPr>
            <a:xfrm rot="0">
              <a:off x="0" y="1661082"/>
              <a:ext cx="134591" cy="13459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7" name="TextBox 17"/>
              <p:cNvSpPr txBox="1"/>
              <p:nvPr/>
            </p:nvSpPr>
            <p:spPr>
              <a:xfrm>
                <a:off x="76200" y="104775"/>
                <a:ext cx="660400" cy="631825"/>
              </a:xfrm>
              <a:prstGeom prst="rect">
                <a:avLst/>
              </a:prstGeom>
            </p:spPr>
            <p:txBody>
              <a:bodyPr lIns="50800" tIns="50800" rIns="50800" bIns="50800" rtlCol="0" anchor="ctr"/>
              <a:lstStyle/>
              <a:p>
                <a:pPr marL="0" lvl="0" indent="0" algn="ctr">
                  <a:lnSpc>
                    <a:spcPts val="1310"/>
                  </a:lnSpc>
                </a:pPr>
              </a:p>
            </p:txBody>
          </p:sp>
        </p:grpSp>
      </p:grpSp>
      <p:sp>
        <p:nvSpPr>
          <p:cNvPr id="18" name="TextBox 18"/>
          <p:cNvSpPr txBox="1"/>
          <p:nvPr/>
        </p:nvSpPr>
        <p:spPr>
          <a:xfrm>
            <a:off x="3119755" y="1490980"/>
            <a:ext cx="14839315" cy="2677160"/>
          </a:xfrm>
          <a:prstGeom prst="rect">
            <a:avLst/>
          </a:prstGeom>
        </p:spPr>
        <p:txBody>
          <a:bodyPr wrap="square" lIns="0" tIns="0" rIns="0" bIns="0" rtlCol="0" anchor="t">
            <a:spAutoFit/>
          </a:bodyPr>
          <a:lstStyle/>
          <a:p>
            <a:pPr marL="0" lvl="0" indent="0" algn="ctr">
              <a:lnSpc>
                <a:spcPts val="10440"/>
              </a:lnSpc>
            </a:pPr>
            <a:r>
              <a:rPr lang="en-IN" altLang="en-US" sz="10655" spc="-681">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IM-02 </a:t>
            </a:r>
            <a:r>
              <a:rPr lang="en-US" sz="10655" spc="-681">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Capacity</a:t>
            </a:r>
            <a:r>
              <a:rPr lang="en-IN" altLang="en-US" sz="10655" spc="-681">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 </a:t>
            </a:r>
            <a:r>
              <a:rPr lang="en-US" sz="10655" spc="-681">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Forecaster</a:t>
            </a:r>
            <a:endParaRPr lang="en-US" sz="10655" spc="-681">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a:p>
            <a:pPr marL="0" lvl="0" indent="0" algn="ctr">
              <a:lnSpc>
                <a:spcPts val="10440"/>
              </a:lnSpc>
            </a:pPr>
            <a:r>
              <a:rPr lang="en-IN" altLang="en-US" sz="10655" spc="-681">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with NL-Query</a:t>
            </a:r>
            <a:endParaRPr lang="en-IN" altLang="en-US" sz="10655" spc="-681">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9" name="TextBox 19"/>
          <p:cNvSpPr txBox="1"/>
          <p:nvPr/>
        </p:nvSpPr>
        <p:spPr>
          <a:xfrm>
            <a:off x="4185920" y="4964430"/>
            <a:ext cx="12616815" cy="785495"/>
          </a:xfrm>
          <a:prstGeom prst="rect">
            <a:avLst/>
          </a:prstGeom>
        </p:spPr>
        <p:txBody>
          <a:bodyPr wrap="square" lIns="0" tIns="0" rIns="0" bIns="0" rtlCol="0" anchor="t">
            <a:noAutofit/>
          </a:bodyPr>
          <a:lstStyle/>
          <a:p>
            <a:pPr marL="0" lvl="0" indent="0" algn="just">
              <a:lnSpc>
                <a:spcPts val="2780"/>
              </a:lnSpc>
            </a:pPr>
            <a:r>
              <a:rPr lang="en-US" altLang="en-US" sz="2800" spc="-6">
                <a:solidFill>
                  <a:srgbClr val="3A58E4"/>
                </a:solidFill>
                <a:latin typeface="Poppins" panose="00000500000000000000"/>
                <a:ea typeface="Poppins" panose="00000500000000000000"/>
                <a:cs typeface="Poppins" panose="00000500000000000000"/>
                <a:sym typeface="Poppins" panose="00000500000000000000"/>
              </a:rPr>
              <a:t>AI-Powered Infrastructure Capacity Planning and Forecasting System</a:t>
            </a:r>
            <a:endParaRPr lang="en-US" altLang="en-US" sz="2800" spc="-6">
              <a:solidFill>
                <a:srgbClr val="3A58E4"/>
              </a:solidFill>
              <a:latin typeface="Poppins" panose="00000500000000000000"/>
              <a:ea typeface="Poppins" panose="00000500000000000000"/>
              <a:cs typeface="Poppins" panose="00000500000000000000"/>
              <a:sym typeface="Poppins" panose="00000500000000000000"/>
            </a:endParaRPr>
          </a:p>
        </p:txBody>
      </p:sp>
      <p:grpSp>
        <p:nvGrpSpPr>
          <p:cNvPr id="22" name="Group 22"/>
          <p:cNvGrpSpPr/>
          <p:nvPr/>
        </p:nvGrpSpPr>
        <p:grpSpPr>
          <a:xfrm rot="0">
            <a:off x="360740" y="8287049"/>
            <a:ext cx="1713939" cy="639471"/>
            <a:chOff x="0" y="0"/>
            <a:chExt cx="2285252" cy="852628"/>
          </a:xfrm>
        </p:grpSpPr>
        <p:sp>
          <p:nvSpPr>
            <p:cNvPr id="23" name="TextBox 23"/>
            <p:cNvSpPr txBox="1"/>
            <p:nvPr/>
          </p:nvSpPr>
          <p:spPr>
            <a:xfrm>
              <a:off x="0" y="0"/>
              <a:ext cx="2272228" cy="413173"/>
            </a:xfrm>
            <a:prstGeom prst="rect">
              <a:avLst/>
            </a:prstGeom>
          </p:spPr>
          <p:txBody>
            <a:bodyPr lIns="0" tIns="0" rIns="0" bIns="0" rtlCol="0" anchor="t">
              <a:spAutoFit/>
            </a:bodyPr>
            <a:lstStyle/>
            <a:p>
              <a:pPr marL="0" lvl="0" indent="0" algn="ctr">
                <a:lnSpc>
                  <a:spcPts val="2420"/>
                </a:lnSpc>
              </a:pPr>
              <a:endParaRPr lang="en-US" sz="226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24" name="TextBox 24"/>
            <p:cNvSpPr txBox="1"/>
            <p:nvPr/>
          </p:nvSpPr>
          <p:spPr>
            <a:xfrm>
              <a:off x="13024" y="465701"/>
              <a:ext cx="2272228" cy="386927"/>
            </a:xfrm>
            <a:prstGeom prst="rect">
              <a:avLst/>
            </a:prstGeom>
          </p:spPr>
          <p:txBody>
            <a:bodyPr lIns="0" tIns="0" rIns="0" bIns="0" rtlCol="0" anchor="t">
              <a:spAutoFit/>
            </a:bodyPr>
            <a:lstStyle/>
            <a:p>
              <a:pPr marL="0" lvl="0" indent="0" algn="ctr">
                <a:lnSpc>
                  <a:spcPts val="2265"/>
                </a:lnSpc>
              </a:pPr>
              <a:endParaRPr lang="en-US" sz="2120">
                <a:solidFill>
                  <a:srgbClr val="FFFFFF"/>
                </a:solidFill>
                <a:latin typeface="Poppins" panose="00000500000000000000"/>
                <a:ea typeface="Poppins" panose="00000500000000000000"/>
                <a:cs typeface="Poppins" panose="00000500000000000000"/>
                <a:sym typeface="Poppins" panose="0000050000000000000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7620201" y="792438"/>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TextBox 5"/>
          <p:cNvSpPr txBox="1"/>
          <p:nvPr/>
        </p:nvSpPr>
        <p:spPr>
          <a:xfrm>
            <a:off x="7848600" y="3948430"/>
            <a:ext cx="7106285" cy="1995805"/>
          </a:xfrm>
          <a:prstGeom prst="rect">
            <a:avLst/>
          </a:prstGeom>
        </p:spPr>
        <p:txBody>
          <a:bodyPr lIns="0" tIns="0" rIns="0" bIns="0" rtlCol="0" anchor="t">
            <a:noAutofit/>
          </a:bodyPr>
          <a:lstStyle/>
          <a:p>
            <a:pPr marL="0" lvl="0" indent="0" algn="l">
              <a:lnSpc>
                <a:spcPts val="2810"/>
              </a:lnSpc>
            </a:pPr>
            <a:r>
              <a:rPr lang="en-US" altLang="en-US" sz="2010" b="1" spc="-50">
                <a:solidFill>
                  <a:schemeClr val="tx1">
                    <a:lumMod val="85000"/>
                    <a:lumOff val="15000"/>
                  </a:schemeClr>
                </a:solidFill>
                <a:latin typeface="Poppins Bold" panose="00000800000000000000"/>
                <a:ea typeface="Poppins Bold" panose="00000800000000000000"/>
                <a:cs typeface="Poppins Bold" panose="00000800000000000000"/>
                <a:sym typeface="Poppins Bold" panose="00000800000000000000"/>
              </a:rPr>
              <a:t>Capacity planning is a manual and time-consuming process that relies on analyzing historical resource metrics. Predicting future CPU, Memory, and Disk utilization is difficult, making proactive infrastructure management challenging.</a:t>
            </a:r>
            <a:endParaRPr lang="en-US" altLang="en-US" sz="2010" b="1" spc="-50">
              <a:solidFill>
                <a:schemeClr val="tx1">
                  <a:lumMod val="85000"/>
                  <a:lumOff val="15000"/>
                </a:schemeClr>
              </a:solidFill>
              <a:latin typeface="Poppins Bold" panose="00000800000000000000"/>
              <a:ea typeface="Poppins Bold" panose="00000800000000000000"/>
              <a:cs typeface="Poppins Bold" panose="00000800000000000000"/>
              <a:sym typeface="Poppins Bold" panose="00000800000000000000"/>
            </a:endParaRPr>
          </a:p>
        </p:txBody>
      </p:sp>
      <p:sp>
        <p:nvSpPr>
          <p:cNvPr id="6" name="Freeform 6"/>
          <p:cNvSpPr/>
          <p:nvPr/>
        </p:nvSpPr>
        <p:spPr>
          <a:xfrm rot="-8687136">
            <a:off x="15580115" y="4542838"/>
            <a:ext cx="189150" cy="228643"/>
          </a:xfrm>
          <a:custGeom>
            <a:avLst/>
            <a:gdLst/>
            <a:ahLst/>
            <a:cxnLst/>
            <a:rect l="l" t="t" r="r" b="b"/>
            <a:pathLst>
              <a:path w="189150" h="228643">
                <a:moveTo>
                  <a:pt x="0" y="0"/>
                </a:moveTo>
                <a:lnTo>
                  <a:pt x="189150" y="0"/>
                </a:lnTo>
                <a:lnTo>
                  <a:pt x="189150" y="228644"/>
                </a:lnTo>
                <a:lnTo>
                  <a:pt x="0" y="2286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rot="0">
            <a:off x="0" y="0"/>
            <a:ext cx="6352295" cy="10287000"/>
            <a:chOff x="0" y="0"/>
            <a:chExt cx="984137" cy="1593725"/>
          </a:xfrm>
        </p:grpSpPr>
        <p:sp>
          <p:nvSpPr>
            <p:cNvPr id="8" name="Freeform 8"/>
            <p:cNvSpPr/>
            <p:nvPr/>
          </p:nvSpPr>
          <p:spPr>
            <a:xfrm>
              <a:off x="0" y="0"/>
              <a:ext cx="984137" cy="1593725"/>
            </a:xfrm>
            <a:custGeom>
              <a:avLst/>
              <a:gdLst/>
              <a:ahLst/>
              <a:cxnLst/>
              <a:rect l="l" t="t" r="r" b="b"/>
              <a:pathLst>
                <a:path w="984137" h="1593725">
                  <a:moveTo>
                    <a:pt x="0" y="0"/>
                  </a:moveTo>
                  <a:lnTo>
                    <a:pt x="984137" y="0"/>
                  </a:lnTo>
                  <a:lnTo>
                    <a:pt x="984137" y="1593725"/>
                  </a:lnTo>
                  <a:lnTo>
                    <a:pt x="0" y="1593725"/>
                  </a:lnTo>
                  <a:close/>
                </a:path>
              </a:pathLst>
            </a:custGeom>
            <a:blipFill>
              <a:blip r:embed="rId3"/>
              <a:stretch>
                <a:fillRect l="-4554" r="-4554"/>
              </a:stretch>
            </a:blipFill>
          </p:spPr>
        </p:sp>
      </p:grpSp>
      <p:grpSp>
        <p:nvGrpSpPr>
          <p:cNvPr id="9" name="Group 9"/>
          <p:cNvGrpSpPr/>
          <p:nvPr/>
        </p:nvGrpSpPr>
        <p:grpSpPr>
          <a:xfrm rot="0">
            <a:off x="16438046" y="151764"/>
            <a:ext cx="1849954" cy="1696402"/>
            <a:chOff x="0" y="0"/>
            <a:chExt cx="2466605" cy="2261870"/>
          </a:xfrm>
        </p:grpSpPr>
        <p:grpSp>
          <p:nvGrpSpPr>
            <p:cNvPr id="10" name="Group 10"/>
            <p:cNvGrpSpPr/>
            <p:nvPr/>
          </p:nvGrpSpPr>
          <p:grpSpPr>
            <a:xfrm rot="0">
              <a:off x="0" y="0"/>
              <a:ext cx="2466605" cy="2261870"/>
              <a:chOff x="0" y="0"/>
              <a:chExt cx="787566" cy="722195"/>
            </a:xfrm>
          </p:grpSpPr>
          <p:sp>
            <p:nvSpPr>
              <p:cNvPr id="11" name="Freeform 11"/>
              <p:cNvSpPr/>
              <p:nvPr/>
            </p:nvSpPr>
            <p:spPr>
              <a:xfrm>
                <a:off x="0" y="0"/>
                <a:ext cx="787566" cy="722196"/>
              </a:xfrm>
              <a:custGeom>
                <a:avLst/>
                <a:gdLst/>
                <a:ahLst/>
                <a:cxnLst/>
                <a:rect l="l" t="t" r="r" b="b"/>
                <a:pathLst>
                  <a:path w="787566" h="722196">
                    <a:moveTo>
                      <a:pt x="0" y="0"/>
                    </a:moveTo>
                    <a:lnTo>
                      <a:pt x="787566" y="0"/>
                    </a:lnTo>
                    <a:lnTo>
                      <a:pt x="787566" y="722196"/>
                    </a:lnTo>
                    <a:lnTo>
                      <a:pt x="0" y="722196"/>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760295"/>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319164" y="684524"/>
              <a:ext cx="1828278" cy="1007122"/>
            </a:xfrm>
            <a:prstGeom prst="rect">
              <a:avLst/>
            </a:prstGeom>
          </p:spPr>
          <p:txBody>
            <a:bodyPr lIns="0" tIns="0" rIns="0" bIns="0" rtlCol="0" anchor="t">
              <a:spAutoFit/>
            </a:bodyPr>
            <a:lstStyle/>
            <a:p>
              <a:pPr marL="0" lvl="0" indent="0" algn="ctr">
                <a:lnSpc>
                  <a:spcPts val="5445"/>
                </a:lnSpc>
              </a:pPr>
              <a:r>
                <a:rPr lang="en-US" sz="5555" spc="-35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02</a:t>
              </a:r>
              <a:endParaRPr lang="en-US" sz="5555" spc="-35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4" name="AutoShape 14"/>
          <p:cNvSpPr/>
          <p:nvPr/>
        </p:nvSpPr>
        <p:spPr>
          <a:xfrm flipH="1">
            <a:off x="6542795" y="0"/>
            <a:ext cx="0" cy="10287000"/>
          </a:xfrm>
          <a:prstGeom prst="line">
            <a:avLst/>
          </a:prstGeom>
          <a:ln w="19050" cap="rnd">
            <a:solidFill>
              <a:srgbClr val="3A58E4"/>
            </a:solidFill>
            <a:prstDash val="solid"/>
            <a:headEnd type="none" w="sm" len="sm"/>
            <a:tailEnd type="none" w="sm" len="sm"/>
          </a:ln>
        </p:spPr>
      </p:sp>
      <p:sp>
        <p:nvSpPr>
          <p:cNvPr id="15" name="Freeform 15"/>
          <p:cNvSpPr/>
          <p:nvPr/>
        </p:nvSpPr>
        <p:spPr>
          <a:xfrm>
            <a:off x="5177017" y="5870652"/>
            <a:ext cx="2350556" cy="457290"/>
          </a:xfrm>
          <a:custGeom>
            <a:avLst/>
            <a:gdLst/>
            <a:ahLst/>
            <a:cxnLst/>
            <a:rect l="l" t="t" r="r" b="b"/>
            <a:pathLst>
              <a:path w="2350556" h="457290">
                <a:moveTo>
                  <a:pt x="0" y="0"/>
                </a:moveTo>
                <a:lnTo>
                  <a:pt x="2350556" y="0"/>
                </a:lnTo>
                <a:lnTo>
                  <a:pt x="2350556" y="457290"/>
                </a:lnTo>
                <a:lnTo>
                  <a:pt x="0" y="457290"/>
                </a:lnTo>
                <a:lnTo>
                  <a:pt x="0" y="0"/>
                </a:lnTo>
                <a:close/>
              </a:path>
            </a:pathLst>
          </a:custGeom>
          <a:blipFill>
            <a:blip r:embed="rId4"/>
            <a:stretch>
              <a:fillRect/>
            </a:stretch>
          </a:blipFill>
        </p:spPr>
      </p:sp>
      <p:grpSp>
        <p:nvGrpSpPr>
          <p:cNvPr id="16" name="Group 16"/>
          <p:cNvGrpSpPr/>
          <p:nvPr/>
        </p:nvGrpSpPr>
        <p:grpSpPr>
          <a:xfrm rot="0">
            <a:off x="5262566" y="3959058"/>
            <a:ext cx="2152019" cy="2149322"/>
            <a:chOff x="0" y="0"/>
            <a:chExt cx="567580" cy="566868"/>
          </a:xfrm>
        </p:grpSpPr>
        <p:sp>
          <p:nvSpPr>
            <p:cNvPr id="17" name="Freeform 17"/>
            <p:cNvSpPr/>
            <p:nvPr/>
          </p:nvSpPr>
          <p:spPr>
            <a:xfrm>
              <a:off x="0" y="0"/>
              <a:ext cx="567580" cy="566868"/>
            </a:xfrm>
            <a:custGeom>
              <a:avLst/>
              <a:gdLst/>
              <a:ahLst/>
              <a:cxnLst/>
              <a:rect l="l" t="t" r="r" b="b"/>
              <a:pathLst>
                <a:path w="567580" h="566868">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18" name="TextBox 18"/>
            <p:cNvSpPr txBox="1"/>
            <p:nvPr/>
          </p:nvSpPr>
          <p:spPr>
            <a:xfrm>
              <a:off x="0" y="28575"/>
              <a:ext cx="567580" cy="538293"/>
            </a:xfrm>
            <a:prstGeom prst="rect">
              <a:avLst/>
            </a:prstGeom>
          </p:spPr>
          <p:txBody>
            <a:bodyPr lIns="48445" tIns="48445" rIns="48445" bIns="48445" rtlCol="0" anchor="ctr"/>
            <a:lstStyle/>
            <a:p>
              <a:pPr marL="0" lvl="0" indent="0" algn="ctr">
                <a:lnSpc>
                  <a:spcPts val="2460"/>
                </a:lnSpc>
              </a:pPr>
            </a:p>
          </p:txBody>
        </p:sp>
      </p:grpSp>
      <p:sp>
        <p:nvSpPr>
          <p:cNvPr id="21" name="TextBox 21"/>
          <p:cNvSpPr txBox="1"/>
          <p:nvPr/>
        </p:nvSpPr>
        <p:spPr>
          <a:xfrm>
            <a:off x="7924800" y="647700"/>
            <a:ext cx="8632190" cy="2460625"/>
          </a:xfrm>
          <a:prstGeom prst="rect">
            <a:avLst/>
          </a:prstGeom>
        </p:spPr>
        <p:txBody>
          <a:bodyPr wrap="square" lIns="0" tIns="0" rIns="0" bIns="0" rtlCol="0" anchor="t">
            <a:spAutoFit/>
          </a:bodyPr>
          <a:lstStyle/>
          <a:p>
            <a:pPr marL="0" lvl="0" indent="0" algn="l">
              <a:lnSpc>
                <a:spcPts val="9595"/>
              </a:lnSpc>
            </a:pPr>
            <a:r>
              <a:rPr lang="en-US" sz="810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Problem Statement</a:t>
            </a:r>
            <a:r>
              <a:rPr lang="en-IN" altLang="en-US" sz="810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 &amp; Challenges</a:t>
            </a:r>
            <a:endParaRPr lang="en-IN" altLang="en-US" sz="810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22" name="TextBox 22"/>
          <p:cNvSpPr txBox="1"/>
          <p:nvPr/>
        </p:nvSpPr>
        <p:spPr>
          <a:xfrm>
            <a:off x="7667625" y="2933700"/>
            <a:ext cx="7325995" cy="456565"/>
          </a:xfrm>
          <a:prstGeom prst="rect">
            <a:avLst/>
          </a:prstGeom>
        </p:spPr>
        <p:txBody>
          <a:bodyPr lIns="0" tIns="0" rIns="0" bIns="0" rtlCol="0" anchor="t">
            <a:noAutofit/>
          </a:bodyPr>
          <a:lstStyle/>
          <a:p>
            <a:pPr marL="0" lvl="0" indent="0" algn="just">
              <a:lnSpc>
                <a:spcPts val="2485"/>
              </a:lnSpc>
            </a:pPr>
            <a:endParaRPr lang="en-US" altLang="en-US" sz="2800" b="1" spc="-5">
              <a:solidFill>
                <a:schemeClr val="accent1">
                  <a:lumMod val="75000"/>
                </a:schemeClr>
              </a:solidFill>
              <a:latin typeface="Poppins" panose="00000500000000000000"/>
              <a:ea typeface="Poppins" panose="00000500000000000000"/>
              <a:cs typeface="Poppins" panose="00000500000000000000"/>
              <a:sym typeface="Poppins" panose="00000500000000000000"/>
            </a:endParaRPr>
          </a:p>
          <a:p>
            <a:pPr marL="0" lvl="0" indent="0" algn="just">
              <a:lnSpc>
                <a:spcPts val="2485"/>
              </a:lnSpc>
            </a:pPr>
            <a:r>
              <a:rPr lang="en-US" altLang="en-US" sz="2800" b="1" spc="-5">
                <a:solidFill>
                  <a:schemeClr val="accent1">
                    <a:lumMod val="75000"/>
                  </a:schemeClr>
                </a:solidFill>
                <a:latin typeface="Poppins" panose="00000500000000000000"/>
                <a:ea typeface="Poppins" panose="00000500000000000000"/>
                <a:cs typeface="Poppins" panose="00000500000000000000"/>
                <a:sym typeface="Poppins" panose="00000500000000000000"/>
              </a:rPr>
              <a:t>Capacity planning is monthly Excel work.</a:t>
            </a:r>
            <a:endParaRPr lang="en-US" altLang="en-US" sz="2800" b="1" spc="-5">
              <a:solidFill>
                <a:schemeClr val="accent1">
                  <a:lumMod val="75000"/>
                </a:schemeClr>
              </a:solidFill>
              <a:latin typeface="Poppins" panose="00000500000000000000"/>
              <a:ea typeface="Poppins" panose="00000500000000000000"/>
              <a:cs typeface="Poppins" panose="00000500000000000000"/>
              <a:sym typeface="Poppins" panose="00000500000000000000"/>
            </a:endParaRPr>
          </a:p>
        </p:txBody>
      </p:sp>
      <p:sp>
        <p:nvSpPr>
          <p:cNvPr id="24" name="Text Box 23"/>
          <p:cNvSpPr txBox="1"/>
          <p:nvPr/>
        </p:nvSpPr>
        <p:spPr>
          <a:xfrm>
            <a:off x="7771130" y="6306820"/>
            <a:ext cx="7760335" cy="2646045"/>
          </a:xfrm>
          <a:prstGeom prst="rect">
            <a:avLst/>
          </a:prstGeom>
          <a:noFill/>
        </p:spPr>
        <p:txBody>
          <a:bodyPr wrap="square" rtlCol="0">
            <a:spAutoFit/>
          </a:bodyPr>
          <a:p>
            <a:r>
              <a:rPr lang="en-IN" altLang="en-US" sz="2800" b="1">
                <a:solidFill>
                  <a:schemeClr val="accent1">
                    <a:lumMod val="75000"/>
                  </a:schemeClr>
                </a:solidFill>
              </a:rPr>
              <a:t>Challenges:</a:t>
            </a:r>
            <a:endParaRPr lang="en-IN" altLang="en-US" sz="2800" b="1">
              <a:solidFill>
                <a:schemeClr val="accent1">
                  <a:lumMod val="75000"/>
                </a:schemeClr>
              </a:solidFill>
            </a:endParaRPr>
          </a:p>
          <a:p>
            <a:pPr marL="342900" indent="-342900">
              <a:buFont typeface="Arial" panose="020B0604020202020204" pitchFamily="34" charset="0"/>
              <a:buChar char="•"/>
            </a:pPr>
            <a:r>
              <a:rPr lang="en-US" altLang="en-US" sz="2400" b="1"/>
              <a:t>Manual capacity planning using spreadsheets.</a:t>
            </a:r>
            <a:endParaRPr lang="en-US" altLang="en-US" sz="2400" b="1"/>
          </a:p>
          <a:p>
            <a:pPr marL="342900" indent="-342900">
              <a:buFont typeface="Arial" panose="020B0604020202020204" pitchFamily="34" charset="0"/>
              <a:buChar char="•"/>
            </a:pPr>
            <a:r>
              <a:rPr lang="en-US" altLang="en-US" sz="2400" b="1"/>
              <a:t>Reactive monitoring causes delayed response.</a:t>
            </a:r>
            <a:endParaRPr lang="en-US" altLang="en-US" sz="2400" b="1"/>
          </a:p>
          <a:p>
            <a:pPr marL="342900" indent="-342900">
              <a:buFont typeface="Arial" panose="020B0604020202020204" pitchFamily="34" charset="0"/>
              <a:buChar char="•"/>
            </a:pPr>
            <a:r>
              <a:rPr lang="en-US" altLang="en-US" sz="2400" b="1"/>
              <a:t>Unexpected outages affect business continuity.</a:t>
            </a:r>
            <a:endParaRPr lang="en-US" altLang="en-US" sz="2400" b="1"/>
          </a:p>
          <a:p>
            <a:pPr marL="342900" indent="-342900">
              <a:buFont typeface="Arial" panose="020B0604020202020204" pitchFamily="34" charset="0"/>
              <a:buChar char="•"/>
            </a:pPr>
            <a:r>
              <a:rPr lang="en-US" altLang="en-US" sz="2400" b="1"/>
              <a:t>Resource wastage due to over-provisioning.</a:t>
            </a:r>
            <a:endParaRPr lang="en-US" altLang="en-US" sz="2400" b="1"/>
          </a:p>
          <a:p>
            <a:pPr marL="342900" indent="-342900">
              <a:buFont typeface="Arial" panose="020B0604020202020204" pitchFamily="34" charset="0"/>
              <a:buChar char="•"/>
            </a:pPr>
            <a:r>
              <a:rPr lang="en-US" altLang="en-US" sz="2400" b="1"/>
              <a:t>Difficult to predict future infrastructure requirements.</a:t>
            </a:r>
            <a:endParaRPr lang="en-US" altLang="en-US" sz="2400" b="1"/>
          </a:p>
          <a:p>
            <a:pPr marL="285750" indent="-285750">
              <a:buFont typeface="Arial" panose="020B0604020202020204" pitchFamily="34" charset="0"/>
              <a:buChar char="•"/>
            </a:pPr>
            <a:endParaRPr lang="en-US"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56766" y="2466659"/>
            <a:ext cx="5217559" cy="1261484"/>
          </a:xfrm>
          <a:prstGeom prst="rect">
            <a:avLst/>
          </a:prstGeom>
        </p:spPr>
        <p:txBody>
          <a:bodyPr lIns="0" tIns="0" rIns="0" bIns="0" rtlCol="0" anchor="t">
            <a:spAutoFit/>
          </a:bodyPr>
          <a:lstStyle/>
          <a:p>
            <a:pPr marL="0" lvl="0" indent="0" algn="l">
              <a:lnSpc>
                <a:spcPts val="9435"/>
              </a:lnSpc>
            </a:pPr>
            <a:r>
              <a:rPr lang="en-US" sz="9630" spc="-61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Objectives</a:t>
            </a:r>
            <a:endParaRPr lang="en-US" sz="9630" spc="-61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3" name="Group 3"/>
          <p:cNvGrpSpPr/>
          <p:nvPr/>
        </p:nvGrpSpPr>
        <p:grpSpPr>
          <a:xfrm rot="0">
            <a:off x="1028700" y="2363470"/>
            <a:ext cx="76200" cy="1035685"/>
            <a:chOff x="0" y="0"/>
            <a:chExt cx="12543" cy="537460"/>
          </a:xfrm>
        </p:grpSpPr>
        <p:sp>
          <p:nvSpPr>
            <p:cNvPr id="4" name="Freeform 4"/>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5" name="TextBox 5"/>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6" name="Group 6"/>
          <p:cNvGrpSpPr/>
          <p:nvPr/>
        </p:nvGrpSpPr>
        <p:grpSpPr>
          <a:xfrm rot="0">
            <a:off x="1028700" y="4312874"/>
            <a:ext cx="8172450" cy="379246"/>
            <a:chOff x="0" y="0"/>
            <a:chExt cx="10896600" cy="505662"/>
          </a:xfrm>
        </p:grpSpPr>
        <p:sp>
          <p:nvSpPr>
            <p:cNvPr id="7" name="TextBox 7"/>
            <p:cNvSpPr txBox="1"/>
            <p:nvPr/>
          </p:nvSpPr>
          <p:spPr>
            <a:xfrm>
              <a:off x="0" y="24608"/>
              <a:ext cx="10820400" cy="481053"/>
            </a:xfrm>
            <a:prstGeom prst="rect">
              <a:avLst/>
            </a:prstGeom>
          </p:spPr>
          <p:txBody>
            <a:bodyPr lIns="0" tIns="0" rIns="0" bIns="0" rtlCol="0" anchor="t">
              <a:spAutoFit/>
            </a:bodyPr>
            <a:lstStyle/>
            <a:p>
              <a:pPr marL="0" lvl="0" indent="0" algn="l">
                <a:lnSpc>
                  <a:spcPts val="2950"/>
                </a:lnSpc>
              </a:pPr>
              <a:r>
                <a:rPr lang="en-US" sz="2110" b="1" spc="-52">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WHAT THE AI CAPACITY FORECASTER SYSTEM AIMS TO ACHIEVE</a:t>
              </a:r>
              <a:endParaRPr lang="en-US" sz="2110" b="1" spc="-52">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8" name="Freeform 8"/>
            <p:cNvSpPr/>
            <p:nvPr/>
          </p:nvSpPr>
          <p:spPr>
            <a:xfrm rot="-8687136">
              <a:off x="10579580"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grpSp>
        <p:nvGrpSpPr>
          <p:cNvPr id="9" name="Group 9"/>
          <p:cNvGrpSpPr/>
          <p:nvPr/>
        </p:nvGrpSpPr>
        <p:grpSpPr>
          <a:xfrm rot="0">
            <a:off x="16438046" y="105992"/>
            <a:ext cx="1849954" cy="1742174"/>
            <a:chOff x="0" y="0"/>
            <a:chExt cx="2466605" cy="2322899"/>
          </a:xfrm>
        </p:grpSpPr>
        <p:grpSp>
          <p:nvGrpSpPr>
            <p:cNvPr id="10" name="Group 10"/>
            <p:cNvGrpSpPr/>
            <p:nvPr/>
          </p:nvGrpSpPr>
          <p:grpSpPr>
            <a:xfrm rot="0">
              <a:off x="0" y="0"/>
              <a:ext cx="2466605" cy="2322899"/>
              <a:chOff x="0" y="0"/>
              <a:chExt cx="787566" cy="741682"/>
            </a:xfrm>
          </p:grpSpPr>
          <p:sp>
            <p:nvSpPr>
              <p:cNvPr id="11" name="Freeform 11"/>
              <p:cNvSpPr/>
              <p:nvPr/>
            </p:nvSpPr>
            <p:spPr>
              <a:xfrm>
                <a:off x="0" y="0"/>
                <a:ext cx="787566" cy="741682"/>
              </a:xfrm>
              <a:custGeom>
                <a:avLst/>
                <a:gdLst/>
                <a:ahLst/>
                <a:cxnLst/>
                <a:rect l="l" t="t" r="r" b="b"/>
                <a:pathLst>
                  <a:path w="787566" h="741682">
                    <a:moveTo>
                      <a:pt x="0" y="0"/>
                    </a:moveTo>
                    <a:lnTo>
                      <a:pt x="787566" y="0"/>
                    </a:lnTo>
                    <a:lnTo>
                      <a:pt x="787566" y="741682"/>
                    </a:lnTo>
                    <a:lnTo>
                      <a:pt x="0" y="741682"/>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779782"/>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319164" y="684524"/>
              <a:ext cx="1828278" cy="1068151"/>
            </a:xfrm>
            <a:prstGeom prst="rect">
              <a:avLst/>
            </a:prstGeom>
          </p:spPr>
          <p:txBody>
            <a:bodyPr lIns="0" tIns="0" rIns="0" bIns="0" rtlCol="0" anchor="t">
              <a:spAutoFit/>
            </a:bodyPr>
            <a:lstStyle/>
            <a:p>
              <a:pPr marL="0" lvl="0" indent="0" algn="ctr">
                <a:lnSpc>
                  <a:spcPts val="5715"/>
                </a:lnSpc>
              </a:pPr>
              <a:r>
                <a:rPr lang="en-US" sz="5830" spc="-373">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03</a:t>
              </a:r>
              <a:endParaRPr lang="en-US" sz="5830" spc="-373">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4" name="Freeform 14"/>
          <p:cNvSpPr/>
          <p:nvPr/>
        </p:nvSpPr>
        <p:spPr>
          <a:xfrm>
            <a:off x="9821992" y="2266440"/>
            <a:ext cx="7089556" cy="7173291"/>
          </a:xfrm>
          <a:custGeom>
            <a:avLst/>
            <a:gdLst/>
            <a:ahLst/>
            <a:cxnLst/>
            <a:rect l="l" t="t" r="r" b="b"/>
            <a:pathLst>
              <a:path w="7089556" h="7173291">
                <a:moveTo>
                  <a:pt x="0" y="0"/>
                </a:moveTo>
                <a:lnTo>
                  <a:pt x="7089556" y="0"/>
                </a:lnTo>
                <a:lnTo>
                  <a:pt x="7089556" y="7173291"/>
                </a:lnTo>
                <a:lnTo>
                  <a:pt x="0" y="7173291"/>
                </a:lnTo>
                <a:lnTo>
                  <a:pt x="0" y="0"/>
                </a:lnTo>
                <a:close/>
              </a:path>
            </a:pathLst>
          </a:custGeom>
          <a:blipFill>
            <a:blip r:embed="rId3"/>
            <a:stretch>
              <a:fillRect/>
            </a:stretch>
          </a:blipFill>
        </p:spPr>
      </p:sp>
      <p:sp>
        <p:nvSpPr>
          <p:cNvPr id="15" name="TextBox 15"/>
          <p:cNvSpPr txBox="1"/>
          <p:nvPr/>
        </p:nvSpPr>
        <p:spPr>
          <a:xfrm>
            <a:off x="1870201" y="5295464"/>
            <a:ext cx="7273799" cy="721322"/>
          </a:xfrm>
          <a:prstGeom prst="rect">
            <a:avLst/>
          </a:prstGeom>
        </p:spPr>
        <p:txBody>
          <a:bodyPr lIns="0" tIns="0" rIns="0" bIns="0" rtlCol="0" anchor="t">
            <a:spAutoFit/>
          </a:bodyPr>
          <a:lstStyle/>
          <a:p>
            <a:pPr marL="0" lvl="0" indent="0" algn="just">
              <a:lnSpc>
                <a:spcPts val="2855"/>
              </a:lnSpc>
            </a:pPr>
            <a:r>
              <a:rPr lang="en-US" sz="2040" spc="-51">
                <a:solidFill>
                  <a:srgbClr val="3A58E4"/>
                </a:solidFill>
                <a:latin typeface="Poppins" panose="00000500000000000000"/>
                <a:ea typeface="Poppins" panose="00000500000000000000"/>
                <a:cs typeface="Poppins" panose="00000500000000000000"/>
                <a:sym typeface="Poppins" panose="00000500000000000000"/>
              </a:rPr>
              <a:t>Enable proactive forecasting of CPU, memory, and storage resource usage before capacity limits are reached.</a:t>
            </a:r>
            <a:endParaRPr lang="en-US" sz="2040" spc="-51">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1870201" y="6286756"/>
            <a:ext cx="7273799" cy="721322"/>
          </a:xfrm>
          <a:prstGeom prst="rect">
            <a:avLst/>
          </a:prstGeom>
        </p:spPr>
        <p:txBody>
          <a:bodyPr lIns="0" tIns="0" rIns="0" bIns="0" rtlCol="0" anchor="t">
            <a:spAutoFit/>
          </a:bodyPr>
          <a:lstStyle/>
          <a:p>
            <a:pPr marL="0" lvl="0" indent="0" algn="just">
              <a:lnSpc>
                <a:spcPts val="2855"/>
              </a:lnSpc>
            </a:pPr>
            <a:r>
              <a:rPr lang="en-US" sz="2040" spc="-51">
                <a:solidFill>
                  <a:srgbClr val="3A58E4"/>
                </a:solidFill>
                <a:latin typeface="Poppins" panose="00000500000000000000"/>
                <a:ea typeface="Poppins" panose="00000500000000000000"/>
                <a:cs typeface="Poppins" panose="00000500000000000000"/>
                <a:sym typeface="Poppins" panose="00000500000000000000"/>
              </a:rPr>
              <a:t>Automate anomaly detection to identify unusual infrastructure usage patterns in real time.</a:t>
            </a:r>
            <a:endParaRPr lang="en-US" sz="2040" spc="-51">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870201" y="7278048"/>
            <a:ext cx="7273799" cy="721322"/>
          </a:xfrm>
          <a:prstGeom prst="rect">
            <a:avLst/>
          </a:prstGeom>
        </p:spPr>
        <p:txBody>
          <a:bodyPr lIns="0" tIns="0" rIns="0" bIns="0" rtlCol="0" anchor="t">
            <a:spAutoFit/>
          </a:bodyPr>
          <a:lstStyle/>
          <a:p>
            <a:pPr marL="0" lvl="0" indent="0" algn="just">
              <a:lnSpc>
                <a:spcPts val="2855"/>
              </a:lnSpc>
            </a:pPr>
            <a:r>
              <a:rPr lang="en-US" sz="2040" spc="-51">
                <a:solidFill>
                  <a:srgbClr val="3A58E4"/>
                </a:solidFill>
                <a:latin typeface="Poppins" panose="00000500000000000000"/>
                <a:ea typeface="Poppins" panose="00000500000000000000"/>
                <a:cs typeface="Poppins" panose="00000500000000000000"/>
                <a:sym typeface="Poppins" panose="00000500000000000000"/>
              </a:rPr>
              <a:t>Deliver risk-based alerts categorized as Low, Medium, or High to prioritize operational response.</a:t>
            </a:r>
            <a:endParaRPr lang="en-US" sz="2040" spc="-51">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870201" y="8269339"/>
            <a:ext cx="7273799" cy="721322"/>
          </a:xfrm>
          <a:prstGeom prst="rect">
            <a:avLst/>
          </a:prstGeom>
        </p:spPr>
        <p:txBody>
          <a:bodyPr lIns="0" tIns="0" rIns="0" bIns="0" rtlCol="0" anchor="t">
            <a:spAutoFit/>
          </a:bodyPr>
          <a:lstStyle/>
          <a:p>
            <a:pPr marL="0" lvl="0" indent="0" algn="just">
              <a:lnSpc>
                <a:spcPts val="2855"/>
              </a:lnSpc>
            </a:pPr>
            <a:r>
              <a:rPr lang="en-US" sz="2040" spc="-51">
                <a:solidFill>
                  <a:srgbClr val="3A58E4"/>
                </a:solidFill>
                <a:latin typeface="Poppins" panose="00000500000000000000"/>
                <a:ea typeface="Poppins" panose="00000500000000000000"/>
                <a:cs typeface="Poppins" panose="00000500000000000000"/>
                <a:sym typeface="Poppins" panose="00000500000000000000"/>
              </a:rPr>
              <a:t>Provide natural language interaction so users can query forecasts and insights in plain English.</a:t>
            </a:r>
            <a:endParaRPr lang="en-US" sz="2040" spc="-51">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9" name="Freeform 19"/>
          <p:cNvSpPr/>
          <p:nvPr/>
        </p:nvSpPr>
        <p:spPr>
          <a:xfrm>
            <a:off x="1052512" y="5400430"/>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1052512" y="6391722"/>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1" name="Freeform 21"/>
          <p:cNvSpPr/>
          <p:nvPr/>
        </p:nvSpPr>
        <p:spPr>
          <a:xfrm>
            <a:off x="1052512" y="7383013"/>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052512" y="8376909"/>
            <a:ext cx="489071" cy="489071"/>
          </a:xfrm>
          <a:custGeom>
            <a:avLst/>
            <a:gdLst/>
            <a:ahLst/>
            <a:cxnLst/>
            <a:rect l="l" t="t" r="r" b="b"/>
            <a:pathLst>
              <a:path w="489071" h="489071">
                <a:moveTo>
                  <a:pt x="0" y="0"/>
                </a:moveTo>
                <a:lnTo>
                  <a:pt x="489072" y="0"/>
                </a:lnTo>
                <a:lnTo>
                  <a:pt x="489072" y="489072"/>
                </a:lnTo>
                <a:lnTo>
                  <a:pt x="0" y="4890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028700" y="1666284"/>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5" name="Group 5"/>
          <p:cNvGrpSpPr/>
          <p:nvPr/>
        </p:nvGrpSpPr>
        <p:grpSpPr>
          <a:xfrm rot="0">
            <a:off x="16438046" y="105992"/>
            <a:ext cx="1849954" cy="1742174"/>
            <a:chOff x="0" y="0"/>
            <a:chExt cx="2466605" cy="2322899"/>
          </a:xfrm>
        </p:grpSpPr>
        <p:grpSp>
          <p:nvGrpSpPr>
            <p:cNvPr id="6" name="Group 6"/>
            <p:cNvGrpSpPr/>
            <p:nvPr/>
          </p:nvGrpSpPr>
          <p:grpSpPr>
            <a:xfrm rot="0">
              <a:off x="0" y="0"/>
              <a:ext cx="2466605" cy="2322899"/>
              <a:chOff x="0" y="0"/>
              <a:chExt cx="787566" cy="741682"/>
            </a:xfrm>
          </p:grpSpPr>
          <p:sp>
            <p:nvSpPr>
              <p:cNvPr id="7" name="Freeform 7"/>
              <p:cNvSpPr/>
              <p:nvPr/>
            </p:nvSpPr>
            <p:spPr>
              <a:xfrm>
                <a:off x="0" y="0"/>
                <a:ext cx="787566" cy="741682"/>
              </a:xfrm>
              <a:custGeom>
                <a:avLst/>
                <a:gdLst/>
                <a:ahLst/>
                <a:cxnLst/>
                <a:rect l="l" t="t" r="r" b="b"/>
                <a:pathLst>
                  <a:path w="787566" h="741682">
                    <a:moveTo>
                      <a:pt x="0" y="0"/>
                    </a:moveTo>
                    <a:lnTo>
                      <a:pt x="787566" y="0"/>
                    </a:lnTo>
                    <a:lnTo>
                      <a:pt x="787566" y="741682"/>
                    </a:lnTo>
                    <a:lnTo>
                      <a:pt x="0" y="741682"/>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8" name="TextBox 8"/>
              <p:cNvSpPr txBox="1"/>
              <p:nvPr/>
            </p:nvSpPr>
            <p:spPr>
              <a:xfrm>
                <a:off x="0" y="-38100"/>
                <a:ext cx="787566" cy="779782"/>
              </a:xfrm>
              <a:prstGeom prst="rect">
                <a:avLst/>
              </a:prstGeom>
            </p:spPr>
            <p:txBody>
              <a:bodyPr lIns="50800" tIns="50800" rIns="50800" bIns="50800" rtlCol="0" anchor="ctr"/>
              <a:lstStyle/>
              <a:p>
                <a:pPr marL="0" lvl="0" indent="0" algn="ctr">
                  <a:lnSpc>
                    <a:spcPts val="2660"/>
                  </a:lnSpc>
                  <a:spcBef>
                    <a:spcPct val="0"/>
                  </a:spcBef>
                </a:pPr>
              </a:p>
            </p:txBody>
          </p:sp>
        </p:grpSp>
        <p:sp>
          <p:nvSpPr>
            <p:cNvPr id="9" name="TextBox 9"/>
            <p:cNvSpPr txBox="1"/>
            <p:nvPr/>
          </p:nvSpPr>
          <p:spPr>
            <a:xfrm>
              <a:off x="319164" y="684524"/>
              <a:ext cx="1828278" cy="1068151"/>
            </a:xfrm>
            <a:prstGeom prst="rect">
              <a:avLst/>
            </a:prstGeom>
          </p:spPr>
          <p:txBody>
            <a:bodyPr lIns="0" tIns="0" rIns="0" bIns="0" rtlCol="0" anchor="t">
              <a:spAutoFit/>
            </a:bodyPr>
            <a:lstStyle/>
            <a:p>
              <a:pPr marL="0" lvl="0" indent="0" algn="ctr">
                <a:lnSpc>
                  <a:spcPts val="5715"/>
                </a:lnSpc>
              </a:pPr>
              <a:r>
                <a:rPr lang="en-US" sz="5830" spc="-373">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04</a:t>
              </a:r>
              <a:endParaRPr lang="en-US" sz="5830" spc="-373">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11" name="Group 11"/>
          <p:cNvGrpSpPr/>
          <p:nvPr/>
        </p:nvGrpSpPr>
        <p:grpSpPr>
          <a:xfrm rot="0">
            <a:off x="1028700" y="4407668"/>
            <a:ext cx="6730921" cy="379246"/>
            <a:chOff x="0" y="0"/>
            <a:chExt cx="8974562" cy="505662"/>
          </a:xfrm>
        </p:grpSpPr>
        <p:sp>
          <p:nvSpPr>
            <p:cNvPr id="12" name="TextBox 12"/>
            <p:cNvSpPr txBox="1"/>
            <p:nvPr/>
          </p:nvSpPr>
          <p:spPr>
            <a:xfrm>
              <a:off x="0" y="24608"/>
              <a:ext cx="8974562" cy="481053"/>
            </a:xfrm>
            <a:prstGeom prst="rect">
              <a:avLst/>
            </a:prstGeom>
          </p:spPr>
          <p:txBody>
            <a:bodyPr lIns="0" tIns="0" rIns="0" bIns="0" rtlCol="0" anchor="t">
              <a:spAutoFit/>
            </a:bodyPr>
            <a:lstStyle/>
            <a:p>
              <a:pPr marL="0" lvl="0" indent="0" algn="l">
                <a:lnSpc>
                  <a:spcPts val="2950"/>
                </a:lnSpc>
              </a:pPr>
              <a:r>
                <a:rPr lang="en-US" sz="2110" b="1" spc="-52">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HOW THE AI CAPACITY FORECASTER SYSTEM WORKS</a:t>
              </a:r>
              <a:endParaRPr lang="en-US" sz="2110" b="1" spc="-52">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13" name="Freeform 13"/>
            <p:cNvSpPr/>
            <p:nvPr/>
          </p:nvSpPr>
          <p:spPr>
            <a:xfrm rot="-8687136">
              <a:off x="8443725"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sp>
        <p:nvSpPr>
          <p:cNvPr id="14" name="TextBox 14"/>
          <p:cNvSpPr txBox="1"/>
          <p:nvPr/>
        </p:nvSpPr>
        <p:spPr>
          <a:xfrm>
            <a:off x="1256766" y="1546639"/>
            <a:ext cx="5412331" cy="2489701"/>
          </a:xfrm>
          <a:prstGeom prst="rect">
            <a:avLst/>
          </a:prstGeom>
        </p:spPr>
        <p:txBody>
          <a:bodyPr lIns="0" tIns="0" rIns="0" bIns="0" rtlCol="0" anchor="t">
            <a:spAutoFit/>
          </a:bodyPr>
          <a:lstStyle/>
          <a:p>
            <a:pPr marL="0" lvl="0" indent="0" algn="l">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Solution</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a:p>
            <a:pPr marL="0" lvl="0" indent="0" algn="l">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Overview</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5" name="TextBox 15"/>
          <p:cNvSpPr txBox="1"/>
          <p:nvPr/>
        </p:nvSpPr>
        <p:spPr>
          <a:xfrm>
            <a:off x="1028700" y="5274206"/>
            <a:ext cx="6570559" cy="3675898"/>
          </a:xfrm>
          <a:prstGeom prst="rect">
            <a:avLst/>
          </a:prstGeom>
        </p:spPr>
        <p:txBody>
          <a:bodyPr lIns="0" tIns="0" rIns="0" bIns="0" rtlCol="0" anchor="t">
            <a:spAutoFit/>
          </a:bodyPr>
          <a:lstStyle/>
          <a:p>
            <a:pPr marL="0" lvl="0" indent="0" algn="just">
              <a:lnSpc>
                <a:spcPts val="2665"/>
              </a:lnSpc>
            </a:pPr>
            <a:r>
              <a:rPr lang="en-US" sz="1905" spc="-5">
                <a:solidFill>
                  <a:srgbClr val="3A58E4"/>
                </a:solidFill>
                <a:latin typeface="Poppins" panose="00000500000000000000"/>
                <a:ea typeface="Poppins" panose="00000500000000000000"/>
                <a:cs typeface="Poppins" panose="00000500000000000000"/>
                <a:sym typeface="Poppins" panose="00000500000000000000"/>
              </a:rPr>
              <a:t>The AI Capacity Forecaster integrates time-series forecasting models (Prophet &amp; ARIMA) to predict future CPU, memory, and storage usage. Users upload historical resource data via CSV, and the system automatically processes, analyzes, and generates forecasts. A conversational NLP interface allows users to query insights in plain English, while built-in anomaly detection flags unusual usage patterns. Risk levels are automatically assessed and visualized on an interactive dashboard for intelligent infrastructure planning.</a:t>
            </a:r>
            <a:endParaRPr lang="en-US" sz="1905" spc="-5">
              <a:solidFill>
                <a:srgbClr val="3A58E4"/>
              </a:solidFill>
              <a:latin typeface="Poppins" panose="00000500000000000000"/>
              <a:ea typeface="Poppins" panose="00000500000000000000"/>
              <a:cs typeface="Poppins" panose="00000500000000000000"/>
              <a:sym typeface="Poppins" panose="00000500000000000000"/>
            </a:endParaRPr>
          </a:p>
        </p:txBody>
      </p:sp>
      <p:pic>
        <p:nvPicPr>
          <p:cNvPr id="18" name="Picture 17" descr="infi"/>
          <p:cNvPicPr>
            <a:picLocks noChangeAspect="1"/>
          </p:cNvPicPr>
          <p:nvPr/>
        </p:nvPicPr>
        <p:blipFill>
          <a:blip r:embed="rId3"/>
          <a:stretch>
            <a:fillRect/>
          </a:stretch>
        </p:blipFill>
        <p:spPr>
          <a:xfrm>
            <a:off x="8001000" y="2590800"/>
            <a:ext cx="10229215" cy="6309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7741311" y="0"/>
            <a:ext cx="546689" cy="7173190"/>
            <a:chOff x="0" y="0"/>
            <a:chExt cx="143984" cy="1889235"/>
          </a:xfrm>
        </p:grpSpPr>
        <p:sp>
          <p:nvSpPr>
            <p:cNvPr id="3" name="Freeform 3"/>
            <p:cNvSpPr/>
            <p:nvPr/>
          </p:nvSpPr>
          <p:spPr>
            <a:xfrm>
              <a:off x="0" y="0"/>
              <a:ext cx="143984" cy="1889235"/>
            </a:xfrm>
            <a:custGeom>
              <a:avLst/>
              <a:gdLst/>
              <a:ahLst/>
              <a:cxnLst/>
              <a:rect l="l" t="t" r="r" b="b"/>
              <a:pathLst>
                <a:path w="143984" h="1889235">
                  <a:moveTo>
                    <a:pt x="0" y="0"/>
                  </a:moveTo>
                  <a:lnTo>
                    <a:pt x="143984" y="0"/>
                  </a:lnTo>
                  <a:lnTo>
                    <a:pt x="143984" y="1889235"/>
                  </a:lnTo>
                  <a:lnTo>
                    <a:pt x="0" y="1889235"/>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4" name="TextBox 4"/>
            <p:cNvSpPr txBox="1"/>
            <p:nvPr/>
          </p:nvSpPr>
          <p:spPr>
            <a:xfrm>
              <a:off x="0" y="-38100"/>
              <a:ext cx="143984" cy="1927335"/>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AutoShape 5"/>
          <p:cNvSpPr/>
          <p:nvPr/>
        </p:nvSpPr>
        <p:spPr>
          <a:xfrm flipH="1">
            <a:off x="4442685" y="0"/>
            <a:ext cx="0" cy="10287000"/>
          </a:xfrm>
          <a:prstGeom prst="line">
            <a:avLst/>
          </a:prstGeom>
          <a:ln w="19050" cap="rnd">
            <a:solidFill>
              <a:srgbClr val="3A58E4"/>
            </a:solidFill>
            <a:prstDash val="solid"/>
            <a:headEnd type="none" w="sm" len="sm"/>
            <a:tailEnd type="none" w="sm" len="sm"/>
          </a:ln>
        </p:spPr>
      </p:sp>
      <p:sp>
        <p:nvSpPr>
          <p:cNvPr id="6" name="AutoShape 6"/>
          <p:cNvSpPr/>
          <p:nvPr/>
        </p:nvSpPr>
        <p:spPr>
          <a:xfrm>
            <a:off x="8872264" y="0"/>
            <a:ext cx="0" cy="7163665"/>
          </a:xfrm>
          <a:prstGeom prst="line">
            <a:avLst/>
          </a:prstGeom>
          <a:ln w="19050" cap="rnd">
            <a:solidFill>
              <a:srgbClr val="3A58E4"/>
            </a:solidFill>
            <a:prstDash val="solid"/>
            <a:headEnd type="none" w="sm" len="sm"/>
            <a:tailEnd type="none" w="sm" len="sm"/>
          </a:ln>
        </p:spPr>
      </p:sp>
      <p:sp>
        <p:nvSpPr>
          <p:cNvPr id="7" name="AutoShape 7"/>
          <p:cNvSpPr/>
          <p:nvPr/>
        </p:nvSpPr>
        <p:spPr>
          <a:xfrm>
            <a:off x="13301844" y="0"/>
            <a:ext cx="0" cy="7163665"/>
          </a:xfrm>
          <a:prstGeom prst="line">
            <a:avLst/>
          </a:prstGeom>
          <a:ln w="19050" cap="rnd">
            <a:solidFill>
              <a:srgbClr val="3A58E4"/>
            </a:solidFill>
            <a:prstDash val="solid"/>
            <a:headEnd type="none" w="sm" len="sm"/>
            <a:tailEnd type="none" w="sm" len="sm"/>
          </a:ln>
        </p:spPr>
      </p:sp>
      <p:sp>
        <p:nvSpPr>
          <p:cNvPr id="8" name="AutoShape 8"/>
          <p:cNvSpPr/>
          <p:nvPr/>
        </p:nvSpPr>
        <p:spPr>
          <a:xfrm>
            <a:off x="0" y="7173190"/>
            <a:ext cx="18288000" cy="0"/>
          </a:xfrm>
          <a:prstGeom prst="line">
            <a:avLst/>
          </a:prstGeom>
          <a:ln w="19050" cap="rnd">
            <a:solidFill>
              <a:srgbClr val="3A58E4"/>
            </a:solidFill>
            <a:prstDash val="solid"/>
            <a:headEnd type="none" w="sm" len="sm"/>
            <a:tailEnd type="none" w="sm" len="sm"/>
          </a:ln>
        </p:spPr>
      </p:sp>
      <p:grpSp>
        <p:nvGrpSpPr>
          <p:cNvPr id="9" name="Group 9"/>
          <p:cNvGrpSpPr/>
          <p:nvPr/>
        </p:nvGrpSpPr>
        <p:grpSpPr>
          <a:xfrm rot="0">
            <a:off x="16305" y="9608"/>
            <a:ext cx="1197405" cy="1196165"/>
            <a:chOff x="0" y="0"/>
            <a:chExt cx="1596540" cy="1594886"/>
          </a:xfrm>
        </p:grpSpPr>
        <p:grpSp>
          <p:nvGrpSpPr>
            <p:cNvPr id="10" name="Group 10"/>
            <p:cNvGrpSpPr/>
            <p:nvPr/>
          </p:nvGrpSpPr>
          <p:grpSpPr>
            <a:xfrm rot="0">
              <a:off x="0" y="0"/>
              <a:ext cx="1596540" cy="1594886"/>
              <a:chOff x="0" y="0"/>
              <a:chExt cx="787566" cy="786750"/>
            </a:xfrm>
          </p:grpSpPr>
          <p:sp>
            <p:nvSpPr>
              <p:cNvPr id="11" name="Freeform 11"/>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2" name="TextBox 12"/>
              <p:cNvSpPr txBox="1"/>
              <p:nvPr/>
            </p:nvSpPr>
            <p:spPr>
              <a:xfrm>
                <a:off x="0" y="-38100"/>
                <a:ext cx="787566" cy="824850"/>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206583" y="454809"/>
              <a:ext cx="1183375" cy="770992"/>
            </a:xfrm>
            <a:prstGeom prst="rect">
              <a:avLst/>
            </a:prstGeom>
          </p:spPr>
          <p:txBody>
            <a:bodyPr lIns="0" tIns="0" rIns="0" bIns="0" rtlCol="0" anchor="t">
              <a:spAutoFit/>
            </a:bodyPr>
            <a:lstStyle/>
            <a:p>
              <a:pPr marL="0" lvl="0" indent="0" algn="ctr">
                <a:lnSpc>
                  <a:spcPts val="4155"/>
                </a:lnSpc>
              </a:pPr>
              <a:r>
                <a:rPr lang="en-US" sz="4240" spc="-27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01</a:t>
              </a:r>
              <a:endParaRPr lang="en-US" sz="4240" spc="-27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14" name="Group 14"/>
          <p:cNvGrpSpPr/>
          <p:nvPr/>
        </p:nvGrpSpPr>
        <p:grpSpPr>
          <a:xfrm rot="0">
            <a:off x="4442685" y="9608"/>
            <a:ext cx="1197405" cy="1196165"/>
            <a:chOff x="0" y="0"/>
            <a:chExt cx="1596540" cy="1594886"/>
          </a:xfrm>
        </p:grpSpPr>
        <p:grpSp>
          <p:nvGrpSpPr>
            <p:cNvPr id="15" name="Group 15"/>
            <p:cNvGrpSpPr/>
            <p:nvPr/>
          </p:nvGrpSpPr>
          <p:grpSpPr>
            <a:xfrm rot="0">
              <a:off x="0" y="0"/>
              <a:ext cx="1596540" cy="1594886"/>
              <a:chOff x="0" y="0"/>
              <a:chExt cx="787566" cy="786750"/>
            </a:xfrm>
          </p:grpSpPr>
          <p:sp>
            <p:nvSpPr>
              <p:cNvPr id="16" name="Freeform 16"/>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7" name="TextBox 17"/>
              <p:cNvSpPr txBox="1"/>
              <p:nvPr/>
            </p:nvSpPr>
            <p:spPr>
              <a:xfrm>
                <a:off x="0" y="-38100"/>
                <a:ext cx="787566" cy="824850"/>
              </a:xfrm>
              <a:prstGeom prst="rect">
                <a:avLst/>
              </a:prstGeom>
            </p:spPr>
            <p:txBody>
              <a:bodyPr lIns="50800" tIns="50800" rIns="50800" bIns="50800" rtlCol="0" anchor="ctr"/>
              <a:lstStyle/>
              <a:p>
                <a:pPr marL="0" lvl="0" indent="0" algn="ctr">
                  <a:lnSpc>
                    <a:spcPts val="2660"/>
                  </a:lnSpc>
                  <a:spcBef>
                    <a:spcPct val="0"/>
                  </a:spcBef>
                </a:pPr>
              </a:p>
            </p:txBody>
          </p:sp>
        </p:grpSp>
        <p:sp>
          <p:nvSpPr>
            <p:cNvPr id="18" name="TextBox 18"/>
            <p:cNvSpPr txBox="1"/>
            <p:nvPr/>
          </p:nvSpPr>
          <p:spPr>
            <a:xfrm>
              <a:off x="206583" y="454809"/>
              <a:ext cx="1183375" cy="770992"/>
            </a:xfrm>
            <a:prstGeom prst="rect">
              <a:avLst/>
            </a:prstGeom>
          </p:spPr>
          <p:txBody>
            <a:bodyPr lIns="0" tIns="0" rIns="0" bIns="0" rtlCol="0" anchor="t">
              <a:spAutoFit/>
            </a:bodyPr>
            <a:lstStyle/>
            <a:p>
              <a:pPr marL="0" lvl="0" indent="0" algn="ctr">
                <a:lnSpc>
                  <a:spcPts val="4155"/>
                </a:lnSpc>
              </a:pPr>
              <a:r>
                <a:rPr lang="en-US" sz="4240" spc="-27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02</a:t>
              </a:r>
              <a:endParaRPr lang="en-US" sz="4240" spc="-27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19" name="Group 19"/>
          <p:cNvGrpSpPr/>
          <p:nvPr/>
        </p:nvGrpSpPr>
        <p:grpSpPr>
          <a:xfrm rot="0">
            <a:off x="8875845" y="9608"/>
            <a:ext cx="1197405" cy="1196165"/>
            <a:chOff x="0" y="0"/>
            <a:chExt cx="1596540" cy="1594886"/>
          </a:xfrm>
        </p:grpSpPr>
        <p:grpSp>
          <p:nvGrpSpPr>
            <p:cNvPr id="20" name="Group 20"/>
            <p:cNvGrpSpPr/>
            <p:nvPr/>
          </p:nvGrpSpPr>
          <p:grpSpPr>
            <a:xfrm rot="0">
              <a:off x="0" y="0"/>
              <a:ext cx="1596540" cy="1594886"/>
              <a:chOff x="0" y="0"/>
              <a:chExt cx="787566" cy="786750"/>
            </a:xfrm>
          </p:grpSpPr>
          <p:sp>
            <p:nvSpPr>
              <p:cNvPr id="21" name="Freeform 21"/>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22" name="TextBox 22"/>
              <p:cNvSpPr txBox="1"/>
              <p:nvPr/>
            </p:nvSpPr>
            <p:spPr>
              <a:xfrm>
                <a:off x="0" y="-38100"/>
                <a:ext cx="787566" cy="824850"/>
              </a:xfrm>
              <a:prstGeom prst="rect">
                <a:avLst/>
              </a:prstGeom>
            </p:spPr>
            <p:txBody>
              <a:bodyPr lIns="50800" tIns="50800" rIns="50800" bIns="50800" rtlCol="0" anchor="ctr"/>
              <a:lstStyle/>
              <a:p>
                <a:pPr marL="0" lvl="0" indent="0" algn="ctr">
                  <a:lnSpc>
                    <a:spcPts val="2660"/>
                  </a:lnSpc>
                  <a:spcBef>
                    <a:spcPct val="0"/>
                  </a:spcBef>
                </a:pPr>
              </a:p>
            </p:txBody>
          </p:sp>
        </p:grpSp>
        <p:sp>
          <p:nvSpPr>
            <p:cNvPr id="23" name="TextBox 23"/>
            <p:cNvSpPr txBox="1"/>
            <p:nvPr/>
          </p:nvSpPr>
          <p:spPr>
            <a:xfrm>
              <a:off x="206583" y="454809"/>
              <a:ext cx="1183375" cy="770992"/>
            </a:xfrm>
            <a:prstGeom prst="rect">
              <a:avLst/>
            </a:prstGeom>
          </p:spPr>
          <p:txBody>
            <a:bodyPr lIns="0" tIns="0" rIns="0" bIns="0" rtlCol="0" anchor="t">
              <a:spAutoFit/>
            </a:bodyPr>
            <a:lstStyle/>
            <a:p>
              <a:pPr marL="0" lvl="0" indent="0" algn="ctr">
                <a:lnSpc>
                  <a:spcPts val="4155"/>
                </a:lnSpc>
              </a:pPr>
              <a:r>
                <a:rPr lang="en-US" sz="4240" spc="-27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03</a:t>
              </a:r>
              <a:endParaRPr lang="en-US" sz="4240" spc="-27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24" name="Group 24"/>
          <p:cNvGrpSpPr/>
          <p:nvPr/>
        </p:nvGrpSpPr>
        <p:grpSpPr>
          <a:xfrm rot="0">
            <a:off x="13309005" y="9608"/>
            <a:ext cx="1197405" cy="1196165"/>
            <a:chOff x="0" y="0"/>
            <a:chExt cx="1596540" cy="1594886"/>
          </a:xfrm>
        </p:grpSpPr>
        <p:grpSp>
          <p:nvGrpSpPr>
            <p:cNvPr id="25" name="Group 25"/>
            <p:cNvGrpSpPr/>
            <p:nvPr/>
          </p:nvGrpSpPr>
          <p:grpSpPr>
            <a:xfrm rot="0">
              <a:off x="0" y="0"/>
              <a:ext cx="1596540" cy="1594886"/>
              <a:chOff x="0" y="0"/>
              <a:chExt cx="787566" cy="786750"/>
            </a:xfrm>
          </p:grpSpPr>
          <p:sp>
            <p:nvSpPr>
              <p:cNvPr id="26" name="Freeform 26"/>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27" name="TextBox 27"/>
              <p:cNvSpPr txBox="1"/>
              <p:nvPr/>
            </p:nvSpPr>
            <p:spPr>
              <a:xfrm>
                <a:off x="0" y="-38100"/>
                <a:ext cx="787566" cy="824850"/>
              </a:xfrm>
              <a:prstGeom prst="rect">
                <a:avLst/>
              </a:prstGeom>
            </p:spPr>
            <p:txBody>
              <a:bodyPr lIns="50800" tIns="50800" rIns="50800" bIns="50800" rtlCol="0" anchor="ctr"/>
              <a:lstStyle/>
              <a:p>
                <a:pPr marL="0" lvl="0" indent="0" algn="ctr">
                  <a:lnSpc>
                    <a:spcPts val="2660"/>
                  </a:lnSpc>
                  <a:spcBef>
                    <a:spcPct val="0"/>
                  </a:spcBef>
                </a:pPr>
              </a:p>
            </p:txBody>
          </p:sp>
        </p:grpSp>
        <p:sp>
          <p:nvSpPr>
            <p:cNvPr id="28" name="TextBox 28"/>
            <p:cNvSpPr txBox="1"/>
            <p:nvPr/>
          </p:nvSpPr>
          <p:spPr>
            <a:xfrm>
              <a:off x="206583" y="454809"/>
              <a:ext cx="1183375" cy="770992"/>
            </a:xfrm>
            <a:prstGeom prst="rect">
              <a:avLst/>
            </a:prstGeom>
          </p:spPr>
          <p:txBody>
            <a:bodyPr lIns="0" tIns="0" rIns="0" bIns="0" rtlCol="0" anchor="t">
              <a:spAutoFit/>
            </a:bodyPr>
            <a:lstStyle/>
            <a:p>
              <a:pPr marL="0" lvl="0" indent="0" algn="ctr">
                <a:lnSpc>
                  <a:spcPts val="4155"/>
                </a:lnSpc>
              </a:pPr>
              <a:r>
                <a:rPr lang="en-US" sz="4240" spc="-27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04</a:t>
              </a:r>
              <a:endParaRPr lang="en-US" sz="4240" spc="-27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29" name="Freeform 29"/>
          <p:cNvSpPr/>
          <p:nvPr/>
        </p:nvSpPr>
        <p:spPr>
          <a:xfrm>
            <a:off x="10470647" y="1653940"/>
            <a:ext cx="932307" cy="892064"/>
          </a:xfrm>
          <a:custGeom>
            <a:avLst/>
            <a:gdLst/>
            <a:ahLst/>
            <a:cxnLst/>
            <a:rect l="l" t="t" r="r" b="b"/>
            <a:pathLst>
              <a:path w="932307" h="892064">
                <a:moveTo>
                  <a:pt x="0" y="0"/>
                </a:moveTo>
                <a:lnTo>
                  <a:pt x="932308" y="0"/>
                </a:lnTo>
                <a:lnTo>
                  <a:pt x="932308" y="892064"/>
                </a:lnTo>
                <a:lnTo>
                  <a:pt x="0" y="892064"/>
                </a:lnTo>
                <a:lnTo>
                  <a:pt x="0" y="0"/>
                </a:lnTo>
                <a:close/>
              </a:path>
            </a:pathLst>
          </a:custGeom>
          <a:blipFill>
            <a:blip r:embed="rId1"/>
            <a:stretch>
              <a:fillRect/>
            </a:stretch>
          </a:blipFill>
        </p:spPr>
      </p:sp>
      <p:sp>
        <p:nvSpPr>
          <p:cNvPr id="30" name="Freeform 30"/>
          <p:cNvSpPr/>
          <p:nvPr/>
        </p:nvSpPr>
        <p:spPr>
          <a:xfrm rot="-5400000">
            <a:off x="15149028" y="1901675"/>
            <a:ext cx="838721" cy="789958"/>
          </a:xfrm>
          <a:custGeom>
            <a:avLst/>
            <a:gdLst/>
            <a:ahLst/>
            <a:cxnLst/>
            <a:rect l="l" t="t" r="r" b="b"/>
            <a:pathLst>
              <a:path w="838721" h="789958">
                <a:moveTo>
                  <a:pt x="0" y="0"/>
                </a:moveTo>
                <a:lnTo>
                  <a:pt x="838721" y="0"/>
                </a:lnTo>
                <a:lnTo>
                  <a:pt x="838721" y="789958"/>
                </a:lnTo>
                <a:lnTo>
                  <a:pt x="0" y="789958"/>
                </a:lnTo>
                <a:lnTo>
                  <a:pt x="0" y="0"/>
                </a:lnTo>
                <a:close/>
              </a:path>
            </a:pathLst>
          </a:custGeom>
          <a:blipFill>
            <a:blip r:embed="rId2"/>
            <a:stretch>
              <a:fillRect/>
            </a:stretch>
          </a:blipFill>
        </p:spPr>
      </p:sp>
      <p:sp>
        <p:nvSpPr>
          <p:cNvPr id="31" name="Freeform 31"/>
          <p:cNvSpPr/>
          <p:nvPr/>
        </p:nvSpPr>
        <p:spPr>
          <a:xfrm>
            <a:off x="1869478" y="1842091"/>
            <a:ext cx="751628" cy="891992"/>
          </a:xfrm>
          <a:custGeom>
            <a:avLst/>
            <a:gdLst/>
            <a:ahLst/>
            <a:cxnLst/>
            <a:rect l="l" t="t" r="r" b="b"/>
            <a:pathLst>
              <a:path w="751628" h="891992">
                <a:moveTo>
                  <a:pt x="0" y="0"/>
                </a:moveTo>
                <a:lnTo>
                  <a:pt x="751627" y="0"/>
                </a:lnTo>
                <a:lnTo>
                  <a:pt x="751627" y="891992"/>
                </a:lnTo>
                <a:lnTo>
                  <a:pt x="0" y="891992"/>
                </a:lnTo>
                <a:lnTo>
                  <a:pt x="0" y="0"/>
                </a:lnTo>
                <a:close/>
              </a:path>
            </a:pathLst>
          </a:custGeom>
          <a:blipFill>
            <a:blip r:embed="rId3"/>
            <a:stretch>
              <a:fillRect/>
            </a:stretch>
          </a:blipFill>
        </p:spPr>
      </p:sp>
      <p:grpSp>
        <p:nvGrpSpPr>
          <p:cNvPr id="32" name="Group 32"/>
          <p:cNvGrpSpPr/>
          <p:nvPr/>
        </p:nvGrpSpPr>
        <p:grpSpPr>
          <a:xfrm rot="0">
            <a:off x="1028700" y="8125800"/>
            <a:ext cx="22757" cy="975106"/>
            <a:chOff x="0" y="0"/>
            <a:chExt cx="12543" cy="537460"/>
          </a:xfrm>
        </p:grpSpPr>
        <p:sp>
          <p:nvSpPr>
            <p:cNvPr id="33" name="Freeform 3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34" name="TextBox 3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35" name="Group 35"/>
          <p:cNvGrpSpPr/>
          <p:nvPr/>
        </p:nvGrpSpPr>
        <p:grpSpPr>
          <a:xfrm rot="0">
            <a:off x="-9525" y="7173190"/>
            <a:ext cx="546689" cy="3113810"/>
            <a:chOff x="0" y="0"/>
            <a:chExt cx="143984" cy="820098"/>
          </a:xfrm>
        </p:grpSpPr>
        <p:sp>
          <p:nvSpPr>
            <p:cNvPr id="36" name="Freeform 36"/>
            <p:cNvSpPr/>
            <p:nvPr/>
          </p:nvSpPr>
          <p:spPr>
            <a:xfrm>
              <a:off x="0" y="0"/>
              <a:ext cx="143984" cy="820098"/>
            </a:xfrm>
            <a:custGeom>
              <a:avLst/>
              <a:gdLst/>
              <a:ahLst/>
              <a:cxnLst/>
              <a:rect l="l" t="t" r="r" b="b"/>
              <a:pathLst>
                <a:path w="143984" h="820098">
                  <a:moveTo>
                    <a:pt x="0" y="0"/>
                  </a:moveTo>
                  <a:lnTo>
                    <a:pt x="143984" y="0"/>
                  </a:lnTo>
                  <a:lnTo>
                    <a:pt x="143984" y="820098"/>
                  </a:lnTo>
                  <a:lnTo>
                    <a:pt x="0" y="820098"/>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37" name="TextBox 37"/>
            <p:cNvSpPr txBox="1"/>
            <p:nvPr/>
          </p:nvSpPr>
          <p:spPr>
            <a:xfrm>
              <a:off x="0" y="-38100"/>
              <a:ext cx="143984" cy="858198"/>
            </a:xfrm>
            <a:prstGeom prst="rect">
              <a:avLst/>
            </a:prstGeom>
          </p:spPr>
          <p:txBody>
            <a:bodyPr lIns="50800" tIns="50800" rIns="50800" bIns="50800" rtlCol="0" anchor="ctr"/>
            <a:lstStyle/>
            <a:p>
              <a:pPr marL="0" lvl="0" indent="0" algn="ctr">
                <a:lnSpc>
                  <a:spcPts val="2660"/>
                </a:lnSpc>
                <a:spcBef>
                  <a:spcPct val="0"/>
                </a:spcBef>
              </a:pPr>
            </a:p>
          </p:txBody>
        </p:sp>
      </p:grpSp>
      <p:sp>
        <p:nvSpPr>
          <p:cNvPr id="38" name="Freeform 38"/>
          <p:cNvSpPr/>
          <p:nvPr/>
        </p:nvSpPr>
        <p:spPr>
          <a:xfrm>
            <a:off x="6115768" y="1717346"/>
            <a:ext cx="1159377" cy="1145238"/>
          </a:xfrm>
          <a:custGeom>
            <a:avLst/>
            <a:gdLst/>
            <a:ahLst/>
            <a:cxnLst/>
            <a:rect l="l" t="t" r="r" b="b"/>
            <a:pathLst>
              <a:path w="1159377" h="1145238">
                <a:moveTo>
                  <a:pt x="0" y="0"/>
                </a:moveTo>
                <a:lnTo>
                  <a:pt x="1159377" y="0"/>
                </a:lnTo>
                <a:lnTo>
                  <a:pt x="1159377" y="1145238"/>
                </a:lnTo>
                <a:lnTo>
                  <a:pt x="0" y="1145238"/>
                </a:lnTo>
                <a:lnTo>
                  <a:pt x="0" y="0"/>
                </a:lnTo>
                <a:close/>
              </a:path>
            </a:pathLst>
          </a:custGeom>
          <a:blipFill>
            <a:blip r:embed="rId4"/>
            <a:stretch>
              <a:fillRect/>
            </a:stretch>
          </a:blipFill>
        </p:spPr>
      </p:sp>
      <p:sp>
        <p:nvSpPr>
          <p:cNvPr id="39" name="TextBox 39"/>
          <p:cNvSpPr txBox="1"/>
          <p:nvPr/>
        </p:nvSpPr>
        <p:spPr>
          <a:xfrm>
            <a:off x="562973" y="4475524"/>
            <a:ext cx="3336787" cy="1843110"/>
          </a:xfrm>
          <a:prstGeom prst="rect">
            <a:avLst/>
          </a:prstGeom>
        </p:spPr>
        <p:txBody>
          <a:bodyPr lIns="0" tIns="0" rIns="0" bIns="0" rtlCol="0" anchor="t">
            <a:spAutoFit/>
          </a:bodyPr>
          <a:lstStyle/>
          <a:p>
            <a:pPr marL="0" lvl="0" indent="0" algn="just">
              <a:lnSpc>
                <a:spcPts val="2435"/>
              </a:lnSpc>
            </a:pPr>
            <a:r>
              <a:rPr lang="en-US" sz="1875" spc="-5">
                <a:solidFill>
                  <a:srgbClr val="3A58E4"/>
                </a:solidFill>
                <a:latin typeface="Poppins" panose="00000500000000000000"/>
                <a:ea typeface="Poppins" panose="00000500000000000000"/>
                <a:cs typeface="Poppins" panose="00000500000000000000"/>
                <a:sym typeface="Poppins" panose="00000500000000000000"/>
              </a:rPr>
              <a:t>CSV upload of CPU, memory, and network metrics. Data is validated, cleaned, and structured for pipeline ingestion via the Streamlit interface.</a:t>
            </a:r>
            <a:endParaRPr lang="en-US" sz="1875" spc="-5">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40" name="TextBox 40"/>
          <p:cNvSpPr txBox="1"/>
          <p:nvPr/>
        </p:nvSpPr>
        <p:spPr>
          <a:xfrm>
            <a:off x="4989081" y="4170724"/>
            <a:ext cx="3336787" cy="2147910"/>
          </a:xfrm>
          <a:prstGeom prst="rect">
            <a:avLst/>
          </a:prstGeom>
        </p:spPr>
        <p:txBody>
          <a:bodyPr lIns="0" tIns="0" rIns="0" bIns="0" rtlCol="0" anchor="t">
            <a:spAutoFit/>
          </a:bodyPr>
          <a:lstStyle/>
          <a:p>
            <a:pPr marL="0" lvl="0" indent="0" algn="just">
              <a:lnSpc>
                <a:spcPts val="2435"/>
              </a:lnSpc>
            </a:pPr>
            <a:r>
              <a:rPr lang="en-US" sz="1875" spc="-5">
                <a:solidFill>
                  <a:srgbClr val="3A58E4"/>
                </a:solidFill>
                <a:latin typeface="Poppins" panose="00000500000000000000"/>
                <a:ea typeface="Poppins" panose="00000500000000000000"/>
                <a:cs typeface="Poppins" panose="00000500000000000000"/>
                <a:sym typeface="Poppins" panose="00000500000000000000"/>
              </a:rPr>
              <a:t>Pandas handles preprocessing, normalization, and feature engineering. Anomaly detection flags unusual usage spikes before forecasting begins.</a:t>
            </a:r>
            <a:endParaRPr lang="en-US" sz="1875" spc="-5">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41" name="TextBox 41"/>
          <p:cNvSpPr txBox="1"/>
          <p:nvPr/>
        </p:nvSpPr>
        <p:spPr>
          <a:xfrm>
            <a:off x="9415189" y="4170724"/>
            <a:ext cx="3336787" cy="2147910"/>
          </a:xfrm>
          <a:prstGeom prst="rect">
            <a:avLst/>
          </a:prstGeom>
        </p:spPr>
        <p:txBody>
          <a:bodyPr lIns="0" tIns="0" rIns="0" bIns="0" rtlCol="0" anchor="t">
            <a:spAutoFit/>
          </a:bodyPr>
          <a:lstStyle/>
          <a:p>
            <a:pPr marL="0" lvl="0" indent="0" algn="just">
              <a:lnSpc>
                <a:spcPts val="2435"/>
              </a:lnSpc>
            </a:pPr>
            <a:r>
              <a:rPr lang="en-US" sz="1875" spc="-5">
                <a:solidFill>
                  <a:srgbClr val="3A58E4"/>
                </a:solidFill>
                <a:latin typeface="Poppins" panose="00000500000000000000"/>
                <a:ea typeface="Poppins" panose="00000500000000000000"/>
                <a:cs typeface="Poppins" panose="00000500000000000000"/>
                <a:sym typeface="Poppins" panose="00000500000000000000"/>
              </a:rPr>
              <a:t>Prophet and ARIMA models generate time-series forecasts. Risk levels (Low, Medium, High) are computed based on predicted resource thresholds.</a:t>
            </a:r>
            <a:endParaRPr lang="en-US" sz="1875" spc="-5">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42" name="TextBox 42"/>
          <p:cNvSpPr txBox="1"/>
          <p:nvPr/>
        </p:nvSpPr>
        <p:spPr>
          <a:xfrm>
            <a:off x="13844769" y="4475524"/>
            <a:ext cx="3336787" cy="1843110"/>
          </a:xfrm>
          <a:prstGeom prst="rect">
            <a:avLst/>
          </a:prstGeom>
        </p:spPr>
        <p:txBody>
          <a:bodyPr lIns="0" tIns="0" rIns="0" bIns="0" rtlCol="0" anchor="t">
            <a:spAutoFit/>
          </a:bodyPr>
          <a:lstStyle/>
          <a:p>
            <a:pPr marL="0" lvl="0" indent="0" algn="just">
              <a:lnSpc>
                <a:spcPts val="2435"/>
              </a:lnSpc>
            </a:pPr>
            <a:r>
              <a:rPr lang="en-US" sz="1875" spc="-5">
                <a:solidFill>
                  <a:srgbClr val="3A58E4"/>
                </a:solidFill>
                <a:latin typeface="Poppins" panose="00000500000000000000"/>
                <a:ea typeface="Poppins" panose="00000500000000000000"/>
                <a:cs typeface="Poppins" panose="00000500000000000000"/>
                <a:sym typeface="Poppins" panose="00000500000000000000"/>
              </a:rPr>
              <a:t>Interactive graphs, breach predictions, and NL query results are rendered in real-time on the Streamlit dashboard for actionable insights.</a:t>
            </a:r>
            <a:endParaRPr lang="en-US" sz="1875" spc="-5">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43" name="TextBox 43"/>
          <p:cNvSpPr txBox="1"/>
          <p:nvPr/>
        </p:nvSpPr>
        <p:spPr>
          <a:xfrm>
            <a:off x="1137920" y="8152130"/>
            <a:ext cx="2960370" cy="1083310"/>
          </a:xfrm>
          <a:prstGeom prst="rect">
            <a:avLst/>
          </a:prstGeom>
        </p:spPr>
        <p:txBody>
          <a:bodyPr wrap="square" lIns="0" tIns="0" rIns="0" bIns="0" rtlCol="0" anchor="t">
            <a:spAutoFit/>
          </a:bodyPr>
          <a:lstStyle/>
          <a:p>
            <a:pPr marL="0" lvl="0" indent="0" algn="l">
              <a:lnSpc>
                <a:spcPts val="4225"/>
              </a:lnSpc>
            </a:pPr>
            <a:r>
              <a:rPr lang="en-US" sz="4310" spc="-275">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Architectu</a:t>
            </a:r>
            <a:r>
              <a:rPr lang="en-IN" altLang="en-US" sz="4310" spc="-275">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r</a:t>
            </a:r>
            <a:r>
              <a:rPr lang="en-US" sz="4310" spc="-275">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e</a:t>
            </a:r>
            <a:endParaRPr lang="en-US" sz="4310" spc="-275">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a:p>
            <a:pPr marL="0" lvl="0" indent="0" algn="l">
              <a:lnSpc>
                <a:spcPts val="4225"/>
              </a:lnSpc>
            </a:pPr>
            <a:r>
              <a:rPr lang="en-US" sz="4310" spc="-275">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Overview</a:t>
            </a:r>
            <a:endParaRPr lang="en-US" sz="4310" spc="-275">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44" name="TextBox 44"/>
          <p:cNvSpPr txBox="1"/>
          <p:nvPr/>
        </p:nvSpPr>
        <p:spPr>
          <a:xfrm>
            <a:off x="4989081" y="7753829"/>
            <a:ext cx="7762895" cy="1347078"/>
          </a:xfrm>
          <a:prstGeom prst="rect">
            <a:avLst/>
          </a:prstGeom>
        </p:spPr>
        <p:txBody>
          <a:bodyPr lIns="0" tIns="0" rIns="0" bIns="0" rtlCol="0" anchor="t">
            <a:spAutoFit/>
          </a:bodyPr>
          <a:lstStyle/>
          <a:p>
            <a:pPr marL="0" lvl="0" indent="0" algn="just">
              <a:lnSpc>
                <a:spcPts val="2660"/>
              </a:lnSpc>
            </a:pPr>
            <a:r>
              <a:rPr lang="en-US" sz="1900" spc="-5">
                <a:solidFill>
                  <a:srgbClr val="3A58E4"/>
                </a:solidFill>
                <a:latin typeface="Poppins" panose="00000500000000000000"/>
                <a:ea typeface="Poppins" panose="00000500000000000000"/>
                <a:cs typeface="Poppins" panose="00000500000000000000"/>
                <a:sym typeface="Poppins" panose="00000500000000000000"/>
              </a:rPr>
              <a:t>The AI Capacity Forecaster follows a modular end-to-end pipeline: raw infrastructure data flows through ingestion, preprocessing, predictive modeling, and anomaly detection before surfacing results on an interactive dashboard.</a:t>
            </a:r>
            <a:endParaRPr lang="en-US" sz="1900" spc="-5">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45" name="TextBox 45"/>
          <p:cNvSpPr txBox="1"/>
          <p:nvPr/>
        </p:nvSpPr>
        <p:spPr>
          <a:xfrm>
            <a:off x="512270" y="3090400"/>
            <a:ext cx="3438193" cy="825162"/>
          </a:xfrm>
          <a:prstGeom prst="rect">
            <a:avLst/>
          </a:prstGeom>
        </p:spPr>
        <p:txBody>
          <a:bodyPr lIns="0" tIns="0" rIns="0" bIns="0" rtlCol="0" anchor="t">
            <a:spAutoFit/>
          </a:bodyPr>
          <a:lstStyle/>
          <a:p>
            <a:pPr marL="0" lvl="0" indent="0" algn="ctr">
              <a:lnSpc>
                <a:spcPts val="3345"/>
              </a:lnSpc>
              <a:spcBef>
                <a:spcPct val="0"/>
              </a:spcBef>
            </a:pPr>
            <a:r>
              <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DATA INPUT</a:t>
            </a:r>
            <a:endPar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a:p>
            <a:pPr marL="0" lvl="0" indent="0" algn="ctr">
              <a:lnSpc>
                <a:spcPts val="3345"/>
              </a:lnSpc>
              <a:spcBef>
                <a:spcPct val="0"/>
              </a:spcBef>
            </a:pPr>
            <a:r>
              <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&amp; INGESTION</a:t>
            </a:r>
            <a:endPar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
        <p:nvSpPr>
          <p:cNvPr id="46" name="TextBox 46"/>
          <p:cNvSpPr txBox="1"/>
          <p:nvPr/>
        </p:nvSpPr>
        <p:spPr>
          <a:xfrm>
            <a:off x="4938378" y="3090400"/>
            <a:ext cx="3438193" cy="825162"/>
          </a:xfrm>
          <a:prstGeom prst="rect">
            <a:avLst/>
          </a:prstGeom>
        </p:spPr>
        <p:txBody>
          <a:bodyPr lIns="0" tIns="0" rIns="0" bIns="0" rtlCol="0" anchor="t">
            <a:spAutoFit/>
          </a:bodyPr>
          <a:lstStyle/>
          <a:p>
            <a:pPr marL="0" lvl="0" indent="0" algn="ctr">
              <a:lnSpc>
                <a:spcPts val="3345"/>
              </a:lnSpc>
              <a:spcBef>
                <a:spcPct val="0"/>
              </a:spcBef>
            </a:pPr>
            <a:r>
              <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PROCESSING</a:t>
            </a:r>
            <a:endPar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a:p>
            <a:pPr marL="0" lvl="0" indent="0" algn="ctr">
              <a:lnSpc>
                <a:spcPts val="3345"/>
              </a:lnSpc>
              <a:spcBef>
                <a:spcPct val="0"/>
              </a:spcBef>
            </a:pPr>
            <a:r>
              <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&amp; ANALYSIS</a:t>
            </a:r>
            <a:endPar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
        <p:nvSpPr>
          <p:cNvPr id="47" name="TextBox 47"/>
          <p:cNvSpPr txBox="1"/>
          <p:nvPr/>
        </p:nvSpPr>
        <p:spPr>
          <a:xfrm>
            <a:off x="9364486" y="3090400"/>
            <a:ext cx="3438193" cy="825162"/>
          </a:xfrm>
          <a:prstGeom prst="rect">
            <a:avLst/>
          </a:prstGeom>
        </p:spPr>
        <p:txBody>
          <a:bodyPr lIns="0" tIns="0" rIns="0" bIns="0" rtlCol="0" anchor="t">
            <a:spAutoFit/>
          </a:bodyPr>
          <a:lstStyle/>
          <a:p>
            <a:pPr marL="0" lvl="0" indent="0" algn="ctr">
              <a:lnSpc>
                <a:spcPts val="3345"/>
              </a:lnSpc>
            </a:pPr>
            <a:r>
              <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FORECASTING</a:t>
            </a:r>
            <a:endPar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a:p>
            <a:pPr marL="0" lvl="0" indent="0" algn="ctr">
              <a:lnSpc>
                <a:spcPts val="3345"/>
              </a:lnSpc>
            </a:pPr>
            <a:r>
              <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MODELS</a:t>
            </a:r>
            <a:endPar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
        <p:nvSpPr>
          <p:cNvPr id="48" name="TextBox 48"/>
          <p:cNvSpPr txBox="1"/>
          <p:nvPr/>
        </p:nvSpPr>
        <p:spPr>
          <a:xfrm>
            <a:off x="13794066" y="3090400"/>
            <a:ext cx="3438193" cy="825162"/>
          </a:xfrm>
          <a:prstGeom prst="rect">
            <a:avLst/>
          </a:prstGeom>
        </p:spPr>
        <p:txBody>
          <a:bodyPr lIns="0" tIns="0" rIns="0" bIns="0" rtlCol="0" anchor="t">
            <a:spAutoFit/>
          </a:bodyPr>
          <a:lstStyle/>
          <a:p>
            <a:pPr marL="0" lvl="0" indent="0" algn="ctr">
              <a:lnSpc>
                <a:spcPts val="3345"/>
              </a:lnSpc>
            </a:pPr>
            <a:r>
              <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DASHBOARD</a:t>
            </a:r>
            <a:endPar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a:p>
            <a:pPr marL="0" lvl="0" indent="0" algn="ctr">
              <a:lnSpc>
                <a:spcPts val="3345"/>
              </a:lnSpc>
            </a:pPr>
            <a:r>
              <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VISUALIZATION</a:t>
            </a:r>
            <a:endParaRPr lang="en-US" sz="2390"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6438046" y="315801"/>
            <a:ext cx="1849954" cy="1532365"/>
            <a:chOff x="0" y="0"/>
            <a:chExt cx="2466605" cy="2043154"/>
          </a:xfrm>
        </p:grpSpPr>
        <p:grpSp>
          <p:nvGrpSpPr>
            <p:cNvPr id="3" name="Group 3"/>
            <p:cNvGrpSpPr/>
            <p:nvPr/>
          </p:nvGrpSpPr>
          <p:grpSpPr>
            <a:xfrm rot="0">
              <a:off x="0" y="0"/>
              <a:ext cx="2466605" cy="2043154"/>
              <a:chOff x="0" y="0"/>
              <a:chExt cx="787566" cy="652361"/>
            </a:xfrm>
          </p:grpSpPr>
          <p:sp>
            <p:nvSpPr>
              <p:cNvPr id="4" name="Freeform 4"/>
              <p:cNvSpPr/>
              <p:nvPr/>
            </p:nvSpPr>
            <p:spPr>
              <a:xfrm>
                <a:off x="0" y="0"/>
                <a:ext cx="787566" cy="652361"/>
              </a:xfrm>
              <a:custGeom>
                <a:avLst/>
                <a:gdLst/>
                <a:ahLst/>
                <a:cxnLst/>
                <a:rect l="l" t="t" r="r" b="b"/>
                <a:pathLst>
                  <a:path w="787566" h="652361">
                    <a:moveTo>
                      <a:pt x="0" y="0"/>
                    </a:moveTo>
                    <a:lnTo>
                      <a:pt x="787566" y="0"/>
                    </a:lnTo>
                    <a:lnTo>
                      <a:pt x="787566" y="652361"/>
                    </a:lnTo>
                    <a:lnTo>
                      <a:pt x="0" y="652361"/>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5" name="TextBox 5"/>
              <p:cNvSpPr txBox="1"/>
              <p:nvPr/>
            </p:nvSpPr>
            <p:spPr>
              <a:xfrm>
                <a:off x="0" y="-38100"/>
                <a:ext cx="787566" cy="690461"/>
              </a:xfrm>
              <a:prstGeom prst="rect">
                <a:avLst/>
              </a:prstGeom>
            </p:spPr>
            <p:txBody>
              <a:bodyPr lIns="50800" tIns="50800" rIns="50800" bIns="50800" rtlCol="0" anchor="ctr"/>
              <a:lstStyle/>
              <a:p>
                <a:pPr marL="0" lvl="0" indent="0" algn="ctr">
                  <a:lnSpc>
                    <a:spcPts val="2660"/>
                  </a:lnSpc>
                  <a:spcBef>
                    <a:spcPct val="0"/>
                  </a:spcBef>
                </a:pPr>
              </a:p>
            </p:txBody>
          </p:sp>
        </p:grpSp>
        <p:sp>
          <p:nvSpPr>
            <p:cNvPr id="6" name="TextBox 6"/>
            <p:cNvSpPr txBox="1"/>
            <p:nvPr/>
          </p:nvSpPr>
          <p:spPr>
            <a:xfrm>
              <a:off x="319164" y="665474"/>
              <a:ext cx="1828278" cy="807456"/>
            </a:xfrm>
            <a:prstGeom prst="rect">
              <a:avLst/>
            </a:prstGeom>
          </p:spPr>
          <p:txBody>
            <a:bodyPr lIns="0" tIns="0" rIns="0" bIns="0" rtlCol="0" anchor="t">
              <a:spAutoFit/>
            </a:bodyPr>
            <a:lstStyle/>
            <a:p>
              <a:pPr marL="0" lvl="0" indent="0" algn="ctr">
                <a:lnSpc>
                  <a:spcPts val="4370"/>
                </a:lnSpc>
              </a:pPr>
              <a:r>
                <a:rPr lang="en-US" sz="4460" spc="-28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06</a:t>
              </a:r>
              <a:endParaRPr lang="en-US" sz="4460" spc="-28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7" name="Group 7"/>
          <p:cNvGrpSpPr/>
          <p:nvPr/>
        </p:nvGrpSpPr>
        <p:grpSpPr>
          <a:xfrm rot="0">
            <a:off x="5545788" y="3062727"/>
            <a:ext cx="7196424" cy="379246"/>
            <a:chOff x="0" y="0"/>
            <a:chExt cx="9595232" cy="505662"/>
          </a:xfrm>
        </p:grpSpPr>
        <p:sp>
          <p:nvSpPr>
            <p:cNvPr id="8" name="TextBox 8"/>
            <p:cNvSpPr txBox="1"/>
            <p:nvPr/>
          </p:nvSpPr>
          <p:spPr>
            <a:xfrm>
              <a:off x="0" y="131625"/>
              <a:ext cx="9378912" cy="374037"/>
            </a:xfrm>
            <a:prstGeom prst="rect">
              <a:avLst/>
            </a:prstGeom>
          </p:spPr>
          <p:txBody>
            <a:bodyPr lIns="0" tIns="0" rIns="0" bIns="0" rtlCol="0" anchor="t">
              <a:spAutoFit/>
            </a:bodyPr>
            <a:lstStyle/>
            <a:p>
              <a:pPr marL="0" lvl="0" indent="0" algn="l">
                <a:lnSpc>
                  <a:spcPts val="2255"/>
                </a:lnSpc>
              </a:pPr>
              <a:r>
                <a:rPr lang="en-US" sz="1610" b="1" spc="-40">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CORE TECHNOLOGIES POWERING THE AI CAPACITY FORECASTER SYSTEM</a:t>
              </a:r>
              <a:endParaRPr lang="en-US" sz="1610" b="1" spc="-40">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9" name="Freeform 9"/>
            <p:cNvSpPr/>
            <p:nvPr/>
          </p:nvSpPr>
          <p:spPr>
            <a:xfrm rot="-8687136">
              <a:off x="9278212"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grpSp>
        <p:nvGrpSpPr>
          <p:cNvPr id="10" name="Group 10"/>
          <p:cNvGrpSpPr/>
          <p:nvPr/>
        </p:nvGrpSpPr>
        <p:grpSpPr>
          <a:xfrm rot="0">
            <a:off x="1463921" y="4926041"/>
            <a:ext cx="3746706" cy="374670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12" name="TextBox 12"/>
            <p:cNvSpPr txBox="1"/>
            <p:nvPr/>
          </p:nvSpPr>
          <p:spPr>
            <a:xfrm>
              <a:off x="76200" y="38100"/>
              <a:ext cx="660400" cy="698500"/>
            </a:xfrm>
            <a:prstGeom prst="rect">
              <a:avLst/>
            </a:prstGeom>
          </p:spPr>
          <p:txBody>
            <a:bodyPr lIns="40108" tIns="40108" rIns="40108" bIns="40108" rtlCol="0" anchor="ctr"/>
            <a:lstStyle/>
            <a:p>
              <a:pPr marL="0" lvl="0" indent="0" algn="ctr">
                <a:lnSpc>
                  <a:spcPts val="2660"/>
                </a:lnSpc>
              </a:pPr>
            </a:p>
          </p:txBody>
        </p:sp>
      </p:grpSp>
      <p:grpSp>
        <p:nvGrpSpPr>
          <p:cNvPr id="13" name="Group 13"/>
          <p:cNvGrpSpPr/>
          <p:nvPr/>
        </p:nvGrpSpPr>
        <p:grpSpPr>
          <a:xfrm rot="0">
            <a:off x="5334452" y="4926041"/>
            <a:ext cx="3746706" cy="374670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a:ln cap="sq">
              <a:noFill/>
              <a:prstDash val="solid"/>
              <a:miter/>
            </a:ln>
          </p:spPr>
        </p:sp>
        <p:sp>
          <p:nvSpPr>
            <p:cNvPr id="15" name="TextBox 15"/>
            <p:cNvSpPr txBox="1"/>
            <p:nvPr/>
          </p:nvSpPr>
          <p:spPr>
            <a:xfrm>
              <a:off x="76200" y="38100"/>
              <a:ext cx="660400" cy="698500"/>
            </a:xfrm>
            <a:prstGeom prst="rect">
              <a:avLst/>
            </a:prstGeom>
          </p:spPr>
          <p:txBody>
            <a:bodyPr lIns="40108" tIns="40108" rIns="40108" bIns="40108" rtlCol="0" anchor="ctr"/>
            <a:lstStyle/>
            <a:p>
              <a:pPr marL="0" lvl="0" indent="0" algn="ctr">
                <a:lnSpc>
                  <a:spcPts val="2660"/>
                </a:lnSpc>
              </a:pPr>
            </a:p>
          </p:txBody>
        </p:sp>
      </p:grpSp>
      <p:grpSp>
        <p:nvGrpSpPr>
          <p:cNvPr id="16" name="Group 16"/>
          <p:cNvGrpSpPr/>
          <p:nvPr/>
        </p:nvGrpSpPr>
        <p:grpSpPr>
          <a:xfrm rot="0">
            <a:off x="9205912" y="4926041"/>
            <a:ext cx="3746706" cy="3746706"/>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18" name="TextBox 18"/>
            <p:cNvSpPr txBox="1"/>
            <p:nvPr/>
          </p:nvSpPr>
          <p:spPr>
            <a:xfrm>
              <a:off x="76200" y="38100"/>
              <a:ext cx="660400" cy="698500"/>
            </a:xfrm>
            <a:prstGeom prst="rect">
              <a:avLst/>
            </a:prstGeom>
          </p:spPr>
          <p:txBody>
            <a:bodyPr lIns="40108" tIns="40108" rIns="40108" bIns="40108" rtlCol="0" anchor="ctr"/>
            <a:lstStyle/>
            <a:p>
              <a:pPr marL="0" lvl="0" indent="0" algn="ctr">
                <a:lnSpc>
                  <a:spcPts val="2660"/>
                </a:lnSpc>
              </a:pPr>
            </a:p>
          </p:txBody>
        </p:sp>
      </p:grpSp>
      <p:grpSp>
        <p:nvGrpSpPr>
          <p:cNvPr id="19" name="Group 19"/>
          <p:cNvGrpSpPr/>
          <p:nvPr/>
        </p:nvGrpSpPr>
        <p:grpSpPr>
          <a:xfrm rot="0">
            <a:off x="13077373" y="4926041"/>
            <a:ext cx="3746706" cy="374670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21" name="TextBox 21"/>
            <p:cNvSpPr txBox="1"/>
            <p:nvPr/>
          </p:nvSpPr>
          <p:spPr>
            <a:xfrm>
              <a:off x="76200" y="38100"/>
              <a:ext cx="660400" cy="698500"/>
            </a:xfrm>
            <a:prstGeom prst="rect">
              <a:avLst/>
            </a:prstGeom>
          </p:spPr>
          <p:txBody>
            <a:bodyPr lIns="40108" tIns="40108" rIns="40108" bIns="40108" rtlCol="0" anchor="ctr"/>
            <a:lstStyle/>
            <a:p>
              <a:pPr marL="0" lvl="0" indent="0" algn="ctr">
                <a:lnSpc>
                  <a:spcPts val="2660"/>
                </a:lnSpc>
              </a:pPr>
            </a:p>
          </p:txBody>
        </p:sp>
      </p:grpSp>
      <p:sp>
        <p:nvSpPr>
          <p:cNvPr id="22" name="TextBox 22"/>
          <p:cNvSpPr txBox="1"/>
          <p:nvPr/>
        </p:nvSpPr>
        <p:spPr>
          <a:xfrm>
            <a:off x="2345222" y="6317430"/>
            <a:ext cx="1984104" cy="242562"/>
          </a:xfrm>
          <a:prstGeom prst="rect">
            <a:avLst/>
          </a:prstGeom>
        </p:spPr>
        <p:txBody>
          <a:bodyPr lIns="0" tIns="0" rIns="0" bIns="0" rtlCol="0" anchor="t">
            <a:spAutoFit/>
          </a:bodyPr>
          <a:lstStyle/>
          <a:p>
            <a:pPr marL="0" lvl="0" indent="0" algn="ctr">
              <a:lnSpc>
                <a:spcPts val="1970"/>
              </a:lnSpc>
            </a:pPr>
            <a:r>
              <a:rPr lang="en-US" sz="1525" b="1" spc="-4">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PYTHON</a:t>
            </a:r>
            <a:endParaRPr lang="en-US" sz="1525" b="1" spc="-4">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23" name="TextBox 23"/>
          <p:cNvSpPr txBox="1"/>
          <p:nvPr/>
        </p:nvSpPr>
        <p:spPr>
          <a:xfrm>
            <a:off x="2124549" y="6975292"/>
            <a:ext cx="2425450" cy="633036"/>
          </a:xfrm>
          <a:prstGeom prst="rect">
            <a:avLst/>
          </a:prstGeom>
        </p:spPr>
        <p:txBody>
          <a:bodyPr lIns="0" tIns="0" rIns="0" bIns="0" rtlCol="0" anchor="t">
            <a:spAutoFit/>
          </a:bodyPr>
          <a:lstStyle/>
          <a:p>
            <a:pPr marL="0" lvl="0" indent="0" algn="ctr">
              <a:lnSpc>
                <a:spcPts val="1655"/>
              </a:lnSpc>
            </a:pPr>
            <a:r>
              <a:rPr lang="en-US" sz="1280" spc="-3">
                <a:solidFill>
                  <a:srgbClr val="3A58E4"/>
                </a:solidFill>
                <a:latin typeface="Poppins" panose="00000500000000000000"/>
                <a:ea typeface="Poppins" panose="00000500000000000000"/>
                <a:cs typeface="Poppins" panose="00000500000000000000"/>
                <a:sym typeface="Poppins" panose="00000500000000000000"/>
              </a:rPr>
              <a:t>Core programming language for data processing, modeling, and backend logic</a:t>
            </a:r>
            <a:endParaRPr lang="en-US" sz="1280" spc="-3">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24" name="TextBox 24"/>
          <p:cNvSpPr txBox="1"/>
          <p:nvPr/>
        </p:nvSpPr>
        <p:spPr>
          <a:xfrm>
            <a:off x="6215753" y="6317430"/>
            <a:ext cx="1984104" cy="242562"/>
          </a:xfrm>
          <a:prstGeom prst="rect">
            <a:avLst/>
          </a:prstGeom>
        </p:spPr>
        <p:txBody>
          <a:bodyPr lIns="0" tIns="0" rIns="0" bIns="0" rtlCol="0" anchor="t">
            <a:spAutoFit/>
          </a:bodyPr>
          <a:lstStyle/>
          <a:p>
            <a:pPr marL="0" lvl="0" indent="0" algn="ctr">
              <a:lnSpc>
                <a:spcPts val="1970"/>
              </a:lnSpc>
            </a:pPr>
            <a:r>
              <a:rPr lang="en-US" sz="1525" b="1" spc="-4">
                <a:solidFill>
                  <a:srgbClr val="FFFFFF"/>
                </a:solidFill>
                <a:latin typeface="Poppins Bold" panose="00000800000000000000"/>
                <a:ea typeface="Poppins Bold" panose="00000800000000000000"/>
                <a:cs typeface="Poppins Bold" panose="00000800000000000000"/>
                <a:sym typeface="Poppins Bold" panose="00000800000000000000"/>
              </a:rPr>
              <a:t>STREAMLIT</a:t>
            </a:r>
            <a:endParaRPr lang="en-US" sz="1525" b="1" spc="-4">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25" name="TextBox 25"/>
          <p:cNvSpPr txBox="1"/>
          <p:nvPr/>
        </p:nvSpPr>
        <p:spPr>
          <a:xfrm>
            <a:off x="5995080" y="6975292"/>
            <a:ext cx="2425450" cy="633036"/>
          </a:xfrm>
          <a:prstGeom prst="rect">
            <a:avLst/>
          </a:prstGeom>
        </p:spPr>
        <p:txBody>
          <a:bodyPr lIns="0" tIns="0" rIns="0" bIns="0" rtlCol="0" anchor="t">
            <a:spAutoFit/>
          </a:bodyPr>
          <a:lstStyle/>
          <a:p>
            <a:pPr marL="0" lvl="0" indent="0" algn="ctr">
              <a:lnSpc>
                <a:spcPts val="1655"/>
              </a:lnSpc>
            </a:pPr>
            <a:r>
              <a:rPr lang="en-US" sz="1280" spc="-3">
                <a:solidFill>
                  <a:srgbClr val="FFFFFF"/>
                </a:solidFill>
                <a:latin typeface="Poppins" panose="00000500000000000000"/>
                <a:ea typeface="Poppins" panose="00000500000000000000"/>
                <a:cs typeface="Poppins" panose="00000500000000000000"/>
                <a:sym typeface="Poppins" panose="00000500000000000000"/>
              </a:rPr>
              <a:t>Interactive web-based UI framework for dashboard and user interface</a:t>
            </a:r>
            <a:endParaRPr lang="en-US" sz="1280" spc="-3">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6" name="TextBox 26"/>
          <p:cNvSpPr txBox="1"/>
          <p:nvPr/>
        </p:nvSpPr>
        <p:spPr>
          <a:xfrm>
            <a:off x="9901910" y="6317430"/>
            <a:ext cx="2354710" cy="242562"/>
          </a:xfrm>
          <a:prstGeom prst="rect">
            <a:avLst/>
          </a:prstGeom>
        </p:spPr>
        <p:txBody>
          <a:bodyPr lIns="0" tIns="0" rIns="0" bIns="0" rtlCol="0" anchor="t">
            <a:spAutoFit/>
          </a:bodyPr>
          <a:lstStyle/>
          <a:p>
            <a:pPr marL="0" lvl="0" indent="0" algn="ctr">
              <a:lnSpc>
                <a:spcPts val="1970"/>
              </a:lnSpc>
            </a:pPr>
            <a:r>
              <a:rPr lang="en-US" sz="1525" b="1" spc="-4">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PANDAS &amp; NUMPY</a:t>
            </a:r>
            <a:endParaRPr lang="en-US" sz="1525" b="1" spc="-4">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27" name="TextBox 27"/>
          <p:cNvSpPr txBox="1"/>
          <p:nvPr/>
        </p:nvSpPr>
        <p:spPr>
          <a:xfrm>
            <a:off x="9866540" y="6765742"/>
            <a:ext cx="2425450" cy="842586"/>
          </a:xfrm>
          <a:prstGeom prst="rect">
            <a:avLst/>
          </a:prstGeom>
        </p:spPr>
        <p:txBody>
          <a:bodyPr lIns="0" tIns="0" rIns="0" bIns="0" rtlCol="0" anchor="t">
            <a:spAutoFit/>
          </a:bodyPr>
          <a:lstStyle/>
          <a:p>
            <a:pPr marL="0" lvl="0" indent="0" algn="ctr">
              <a:lnSpc>
                <a:spcPts val="1655"/>
              </a:lnSpc>
            </a:pPr>
            <a:r>
              <a:rPr lang="en-US" sz="1280" spc="-3">
                <a:solidFill>
                  <a:srgbClr val="3A58E4"/>
                </a:solidFill>
                <a:latin typeface="Poppins" panose="00000500000000000000"/>
                <a:ea typeface="Poppins" panose="00000500000000000000"/>
                <a:cs typeface="Poppins" panose="00000500000000000000"/>
                <a:sym typeface="Poppins" panose="00000500000000000000"/>
              </a:rPr>
              <a:t>Data ingestion, preprocessing, transformation, and CSV handling</a:t>
            </a:r>
            <a:endParaRPr lang="en-US" sz="1280" spc="-3">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28" name="TextBox 28"/>
          <p:cNvSpPr txBox="1"/>
          <p:nvPr/>
        </p:nvSpPr>
        <p:spPr>
          <a:xfrm>
            <a:off x="13958674" y="6317430"/>
            <a:ext cx="1984104" cy="242562"/>
          </a:xfrm>
          <a:prstGeom prst="rect">
            <a:avLst/>
          </a:prstGeom>
        </p:spPr>
        <p:txBody>
          <a:bodyPr lIns="0" tIns="0" rIns="0" bIns="0" rtlCol="0" anchor="t">
            <a:spAutoFit/>
          </a:bodyPr>
          <a:lstStyle/>
          <a:p>
            <a:pPr marL="0" lvl="0" indent="0" algn="ctr">
              <a:lnSpc>
                <a:spcPts val="1970"/>
              </a:lnSpc>
            </a:pPr>
            <a:r>
              <a:rPr lang="en-US" sz="1525" b="1" spc="-4">
                <a:solidFill>
                  <a:srgbClr val="FFFFFF"/>
                </a:solidFill>
                <a:latin typeface="Poppins Bold" panose="00000800000000000000"/>
                <a:ea typeface="Poppins Bold" panose="00000800000000000000"/>
                <a:cs typeface="Poppins Bold" panose="00000800000000000000"/>
                <a:sym typeface="Poppins Bold" panose="00000800000000000000"/>
              </a:rPr>
              <a:t>PROPHET &amp; ARIMA</a:t>
            </a:r>
            <a:endParaRPr lang="en-US" sz="1525" b="1" spc="-4">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29" name="TextBox 29"/>
          <p:cNvSpPr txBox="1"/>
          <p:nvPr/>
        </p:nvSpPr>
        <p:spPr>
          <a:xfrm>
            <a:off x="13738001" y="6975292"/>
            <a:ext cx="2425450" cy="633036"/>
          </a:xfrm>
          <a:prstGeom prst="rect">
            <a:avLst/>
          </a:prstGeom>
        </p:spPr>
        <p:txBody>
          <a:bodyPr lIns="0" tIns="0" rIns="0" bIns="0" rtlCol="0" anchor="t">
            <a:spAutoFit/>
          </a:bodyPr>
          <a:lstStyle/>
          <a:p>
            <a:pPr marL="0" lvl="0" indent="0" algn="ctr">
              <a:lnSpc>
                <a:spcPts val="1655"/>
              </a:lnSpc>
            </a:pPr>
            <a:r>
              <a:rPr lang="en-US" sz="1280" spc="-3">
                <a:solidFill>
                  <a:srgbClr val="FFFFFF"/>
                </a:solidFill>
                <a:latin typeface="Poppins" panose="00000500000000000000"/>
                <a:ea typeface="Poppins" panose="00000500000000000000"/>
                <a:cs typeface="Poppins" panose="00000500000000000000"/>
                <a:sym typeface="Poppins" panose="00000500000000000000"/>
              </a:rPr>
              <a:t>Time-series forecasting models for predictive resource planning</a:t>
            </a:r>
            <a:endParaRPr lang="en-US" sz="1280" spc="-3">
              <a:solidFill>
                <a:srgbClr val="FFFFFF"/>
              </a:solidFill>
              <a:latin typeface="Poppins" panose="00000500000000000000"/>
              <a:ea typeface="Poppins" panose="00000500000000000000"/>
              <a:cs typeface="Poppins" panose="00000500000000000000"/>
              <a:sym typeface="Poppins" panose="00000500000000000000"/>
            </a:endParaRPr>
          </a:p>
        </p:txBody>
      </p:sp>
      <p:grpSp>
        <p:nvGrpSpPr>
          <p:cNvPr id="30" name="Group 30"/>
          <p:cNvGrpSpPr/>
          <p:nvPr/>
        </p:nvGrpSpPr>
        <p:grpSpPr>
          <a:xfrm rot="0">
            <a:off x="4176506" y="5032195"/>
            <a:ext cx="746986" cy="640832"/>
            <a:chOff x="0" y="0"/>
            <a:chExt cx="995981" cy="854442"/>
          </a:xfrm>
        </p:grpSpPr>
        <p:grpSp>
          <p:nvGrpSpPr>
            <p:cNvPr id="31" name="Group 31"/>
            <p:cNvGrpSpPr/>
            <p:nvPr/>
          </p:nvGrpSpPr>
          <p:grpSpPr>
            <a:xfrm rot="0">
              <a:off x="0" y="0"/>
              <a:ext cx="995981" cy="854442"/>
              <a:chOff x="0" y="0"/>
              <a:chExt cx="812800" cy="697293"/>
            </a:xfrm>
          </p:grpSpPr>
          <p:sp>
            <p:nvSpPr>
              <p:cNvPr id="32" name="Freeform 32"/>
              <p:cNvSpPr/>
              <p:nvPr/>
            </p:nvSpPr>
            <p:spPr>
              <a:xfrm>
                <a:off x="0" y="0"/>
                <a:ext cx="812800" cy="697293"/>
              </a:xfrm>
              <a:custGeom>
                <a:avLst/>
                <a:gdLst/>
                <a:ahLst/>
                <a:cxnLst/>
                <a:rect l="l" t="t" r="r" b="b"/>
                <a:pathLst>
                  <a:path w="812800" h="697293">
                    <a:moveTo>
                      <a:pt x="406400" y="0"/>
                    </a:moveTo>
                    <a:cubicBezTo>
                      <a:pt x="181951" y="0"/>
                      <a:pt x="0" y="156094"/>
                      <a:pt x="0" y="348647"/>
                    </a:cubicBezTo>
                    <a:cubicBezTo>
                      <a:pt x="0" y="541199"/>
                      <a:pt x="181951" y="697293"/>
                      <a:pt x="406400" y="697293"/>
                    </a:cubicBezTo>
                    <a:cubicBezTo>
                      <a:pt x="630849" y="697293"/>
                      <a:pt x="812800" y="541199"/>
                      <a:pt x="812800" y="348647"/>
                    </a:cubicBezTo>
                    <a:cubicBezTo>
                      <a:pt x="812800" y="156094"/>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33" name="TextBox 33"/>
              <p:cNvSpPr txBox="1"/>
              <p:nvPr/>
            </p:nvSpPr>
            <p:spPr>
              <a:xfrm>
                <a:off x="76200" y="27271"/>
                <a:ext cx="660400" cy="604651"/>
              </a:xfrm>
              <a:prstGeom prst="rect">
                <a:avLst/>
              </a:prstGeom>
            </p:spPr>
            <p:txBody>
              <a:bodyPr lIns="50800" tIns="50800" rIns="50800" bIns="50800" rtlCol="0" anchor="ctr"/>
              <a:lstStyle/>
              <a:p>
                <a:pPr marL="0" lvl="0" indent="0" algn="ctr">
                  <a:lnSpc>
                    <a:spcPts val="2660"/>
                  </a:lnSpc>
                </a:pPr>
              </a:p>
            </p:txBody>
          </p:sp>
        </p:grpSp>
        <p:sp>
          <p:nvSpPr>
            <p:cNvPr id="34" name="TextBox 34"/>
            <p:cNvSpPr txBox="1"/>
            <p:nvPr/>
          </p:nvSpPr>
          <p:spPr>
            <a:xfrm>
              <a:off x="175623" y="245086"/>
              <a:ext cx="644736" cy="335695"/>
            </a:xfrm>
            <a:prstGeom prst="rect">
              <a:avLst/>
            </a:prstGeom>
          </p:spPr>
          <p:txBody>
            <a:bodyPr lIns="0" tIns="0" rIns="0" bIns="0" rtlCol="0" anchor="t">
              <a:spAutoFit/>
            </a:bodyPr>
            <a:lstStyle/>
            <a:p>
              <a:pPr marL="0" lvl="0" indent="0" algn="ctr">
                <a:lnSpc>
                  <a:spcPts val="1955"/>
                </a:lnSpc>
              </a:pPr>
              <a:r>
                <a:rPr lang="en-US" sz="1515" spc="-4">
                  <a:solidFill>
                    <a:srgbClr val="FFFFFF"/>
                  </a:solidFill>
                  <a:latin typeface="Poppins" panose="00000500000000000000"/>
                  <a:ea typeface="Poppins" panose="00000500000000000000"/>
                  <a:cs typeface="Poppins" panose="00000500000000000000"/>
                  <a:sym typeface="Poppins" panose="00000500000000000000"/>
                </a:rPr>
                <a:t>01</a:t>
              </a:r>
              <a:endParaRPr lang="en-US" sz="1515" spc="-4">
                <a:solidFill>
                  <a:srgbClr val="FFFFFF"/>
                </a:solidFill>
                <a:latin typeface="Poppins" panose="00000500000000000000"/>
                <a:ea typeface="Poppins" panose="00000500000000000000"/>
                <a:cs typeface="Poppins" panose="00000500000000000000"/>
                <a:sym typeface="Poppins" panose="00000500000000000000"/>
              </a:endParaRPr>
            </a:p>
          </p:txBody>
        </p:sp>
      </p:grpSp>
      <p:grpSp>
        <p:nvGrpSpPr>
          <p:cNvPr id="35" name="Group 35"/>
          <p:cNvGrpSpPr/>
          <p:nvPr/>
        </p:nvGrpSpPr>
        <p:grpSpPr>
          <a:xfrm rot="0">
            <a:off x="8047037" y="5032195"/>
            <a:ext cx="746986" cy="640832"/>
            <a:chOff x="0" y="0"/>
            <a:chExt cx="995981" cy="854442"/>
          </a:xfrm>
        </p:grpSpPr>
        <p:grpSp>
          <p:nvGrpSpPr>
            <p:cNvPr id="36" name="Group 36"/>
            <p:cNvGrpSpPr/>
            <p:nvPr/>
          </p:nvGrpSpPr>
          <p:grpSpPr>
            <a:xfrm rot="0">
              <a:off x="0" y="0"/>
              <a:ext cx="995981" cy="854442"/>
              <a:chOff x="0" y="0"/>
              <a:chExt cx="812800" cy="697293"/>
            </a:xfrm>
          </p:grpSpPr>
          <p:sp>
            <p:nvSpPr>
              <p:cNvPr id="37" name="Freeform 37"/>
              <p:cNvSpPr/>
              <p:nvPr/>
            </p:nvSpPr>
            <p:spPr>
              <a:xfrm>
                <a:off x="0" y="0"/>
                <a:ext cx="812800" cy="697293"/>
              </a:xfrm>
              <a:custGeom>
                <a:avLst/>
                <a:gdLst/>
                <a:ahLst/>
                <a:cxnLst/>
                <a:rect l="l" t="t" r="r" b="b"/>
                <a:pathLst>
                  <a:path w="812800" h="697293">
                    <a:moveTo>
                      <a:pt x="406400" y="0"/>
                    </a:moveTo>
                    <a:cubicBezTo>
                      <a:pt x="181951" y="0"/>
                      <a:pt x="0" y="156094"/>
                      <a:pt x="0" y="348647"/>
                    </a:cubicBezTo>
                    <a:cubicBezTo>
                      <a:pt x="0" y="541199"/>
                      <a:pt x="181951" y="697293"/>
                      <a:pt x="406400" y="697293"/>
                    </a:cubicBezTo>
                    <a:cubicBezTo>
                      <a:pt x="630849" y="697293"/>
                      <a:pt x="812800" y="541199"/>
                      <a:pt x="812800" y="348647"/>
                    </a:cubicBezTo>
                    <a:cubicBezTo>
                      <a:pt x="812800" y="156094"/>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38" name="TextBox 38"/>
              <p:cNvSpPr txBox="1"/>
              <p:nvPr/>
            </p:nvSpPr>
            <p:spPr>
              <a:xfrm>
                <a:off x="76200" y="27271"/>
                <a:ext cx="660400" cy="604651"/>
              </a:xfrm>
              <a:prstGeom prst="rect">
                <a:avLst/>
              </a:prstGeom>
            </p:spPr>
            <p:txBody>
              <a:bodyPr lIns="50800" tIns="50800" rIns="50800" bIns="50800" rtlCol="0" anchor="ctr"/>
              <a:lstStyle/>
              <a:p>
                <a:pPr marL="0" lvl="0" indent="0" algn="ctr">
                  <a:lnSpc>
                    <a:spcPts val="2660"/>
                  </a:lnSpc>
                </a:pPr>
              </a:p>
            </p:txBody>
          </p:sp>
        </p:grpSp>
        <p:sp>
          <p:nvSpPr>
            <p:cNvPr id="39" name="TextBox 39"/>
            <p:cNvSpPr txBox="1"/>
            <p:nvPr/>
          </p:nvSpPr>
          <p:spPr>
            <a:xfrm>
              <a:off x="175623" y="245086"/>
              <a:ext cx="644736" cy="335695"/>
            </a:xfrm>
            <a:prstGeom prst="rect">
              <a:avLst/>
            </a:prstGeom>
          </p:spPr>
          <p:txBody>
            <a:bodyPr lIns="0" tIns="0" rIns="0" bIns="0" rtlCol="0" anchor="t">
              <a:spAutoFit/>
            </a:bodyPr>
            <a:lstStyle/>
            <a:p>
              <a:pPr marL="0" lvl="0" indent="0" algn="ctr">
                <a:lnSpc>
                  <a:spcPts val="1955"/>
                </a:lnSpc>
              </a:pPr>
              <a:r>
                <a:rPr lang="en-US" sz="1515" spc="-4">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02</a:t>
              </a:r>
              <a:endParaRPr lang="en-US" sz="1515" spc="-4">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p:txBody>
        </p:sp>
      </p:grpSp>
      <p:grpSp>
        <p:nvGrpSpPr>
          <p:cNvPr id="40" name="Group 40"/>
          <p:cNvGrpSpPr/>
          <p:nvPr/>
        </p:nvGrpSpPr>
        <p:grpSpPr>
          <a:xfrm rot="0">
            <a:off x="11919608" y="5032195"/>
            <a:ext cx="746986" cy="640832"/>
            <a:chOff x="0" y="0"/>
            <a:chExt cx="995981" cy="854442"/>
          </a:xfrm>
        </p:grpSpPr>
        <p:grpSp>
          <p:nvGrpSpPr>
            <p:cNvPr id="41" name="Group 41"/>
            <p:cNvGrpSpPr/>
            <p:nvPr/>
          </p:nvGrpSpPr>
          <p:grpSpPr>
            <a:xfrm rot="0">
              <a:off x="0" y="0"/>
              <a:ext cx="995981" cy="854442"/>
              <a:chOff x="0" y="0"/>
              <a:chExt cx="812800" cy="697293"/>
            </a:xfrm>
          </p:grpSpPr>
          <p:sp>
            <p:nvSpPr>
              <p:cNvPr id="42" name="Freeform 42"/>
              <p:cNvSpPr/>
              <p:nvPr/>
            </p:nvSpPr>
            <p:spPr>
              <a:xfrm>
                <a:off x="0" y="0"/>
                <a:ext cx="812800" cy="697293"/>
              </a:xfrm>
              <a:custGeom>
                <a:avLst/>
                <a:gdLst/>
                <a:ahLst/>
                <a:cxnLst/>
                <a:rect l="l" t="t" r="r" b="b"/>
                <a:pathLst>
                  <a:path w="812800" h="697293">
                    <a:moveTo>
                      <a:pt x="406400" y="0"/>
                    </a:moveTo>
                    <a:cubicBezTo>
                      <a:pt x="181951" y="0"/>
                      <a:pt x="0" y="156094"/>
                      <a:pt x="0" y="348647"/>
                    </a:cubicBezTo>
                    <a:cubicBezTo>
                      <a:pt x="0" y="541199"/>
                      <a:pt x="181951" y="697293"/>
                      <a:pt x="406400" y="697293"/>
                    </a:cubicBezTo>
                    <a:cubicBezTo>
                      <a:pt x="630849" y="697293"/>
                      <a:pt x="812800" y="541199"/>
                      <a:pt x="812800" y="348647"/>
                    </a:cubicBezTo>
                    <a:cubicBezTo>
                      <a:pt x="812800" y="156094"/>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43" name="TextBox 43"/>
              <p:cNvSpPr txBox="1"/>
              <p:nvPr/>
            </p:nvSpPr>
            <p:spPr>
              <a:xfrm>
                <a:off x="76200" y="27271"/>
                <a:ext cx="660400" cy="604651"/>
              </a:xfrm>
              <a:prstGeom prst="rect">
                <a:avLst/>
              </a:prstGeom>
            </p:spPr>
            <p:txBody>
              <a:bodyPr lIns="50800" tIns="50800" rIns="50800" bIns="50800" rtlCol="0" anchor="ctr"/>
              <a:lstStyle/>
              <a:p>
                <a:pPr marL="0" lvl="0" indent="0" algn="ctr">
                  <a:lnSpc>
                    <a:spcPts val="2660"/>
                  </a:lnSpc>
                </a:pPr>
              </a:p>
            </p:txBody>
          </p:sp>
        </p:grpSp>
        <p:sp>
          <p:nvSpPr>
            <p:cNvPr id="44" name="TextBox 44"/>
            <p:cNvSpPr txBox="1"/>
            <p:nvPr/>
          </p:nvSpPr>
          <p:spPr>
            <a:xfrm>
              <a:off x="175623" y="245086"/>
              <a:ext cx="644736" cy="335695"/>
            </a:xfrm>
            <a:prstGeom prst="rect">
              <a:avLst/>
            </a:prstGeom>
          </p:spPr>
          <p:txBody>
            <a:bodyPr lIns="0" tIns="0" rIns="0" bIns="0" rtlCol="0" anchor="t">
              <a:spAutoFit/>
            </a:bodyPr>
            <a:lstStyle/>
            <a:p>
              <a:pPr marL="0" lvl="0" indent="0" algn="ctr">
                <a:lnSpc>
                  <a:spcPts val="1955"/>
                </a:lnSpc>
              </a:pPr>
              <a:r>
                <a:rPr lang="en-US" sz="1515" spc="-4">
                  <a:solidFill>
                    <a:srgbClr val="FFFFFF"/>
                  </a:solidFill>
                  <a:latin typeface="Poppins" panose="00000500000000000000"/>
                  <a:ea typeface="Poppins" panose="00000500000000000000"/>
                  <a:cs typeface="Poppins" panose="00000500000000000000"/>
                  <a:sym typeface="Poppins" panose="00000500000000000000"/>
                </a:rPr>
                <a:t>03</a:t>
              </a:r>
              <a:endParaRPr lang="en-US" sz="1515" spc="-4">
                <a:solidFill>
                  <a:srgbClr val="FFFFFF"/>
                </a:solidFill>
                <a:latin typeface="Poppins" panose="00000500000000000000"/>
                <a:ea typeface="Poppins" panose="00000500000000000000"/>
                <a:cs typeface="Poppins" panose="00000500000000000000"/>
                <a:sym typeface="Poppins" panose="00000500000000000000"/>
              </a:endParaRPr>
            </a:p>
          </p:txBody>
        </p:sp>
      </p:grpSp>
      <p:grpSp>
        <p:nvGrpSpPr>
          <p:cNvPr id="45" name="Group 45"/>
          <p:cNvGrpSpPr/>
          <p:nvPr/>
        </p:nvGrpSpPr>
        <p:grpSpPr>
          <a:xfrm rot="0">
            <a:off x="15791068" y="5032195"/>
            <a:ext cx="746986" cy="640832"/>
            <a:chOff x="0" y="0"/>
            <a:chExt cx="995981" cy="854442"/>
          </a:xfrm>
        </p:grpSpPr>
        <p:grpSp>
          <p:nvGrpSpPr>
            <p:cNvPr id="46" name="Group 46"/>
            <p:cNvGrpSpPr/>
            <p:nvPr/>
          </p:nvGrpSpPr>
          <p:grpSpPr>
            <a:xfrm rot="0">
              <a:off x="0" y="0"/>
              <a:ext cx="995981" cy="854442"/>
              <a:chOff x="0" y="0"/>
              <a:chExt cx="812800" cy="697293"/>
            </a:xfrm>
          </p:grpSpPr>
          <p:sp>
            <p:nvSpPr>
              <p:cNvPr id="47" name="Freeform 47"/>
              <p:cNvSpPr/>
              <p:nvPr/>
            </p:nvSpPr>
            <p:spPr>
              <a:xfrm>
                <a:off x="0" y="0"/>
                <a:ext cx="812800" cy="697293"/>
              </a:xfrm>
              <a:custGeom>
                <a:avLst/>
                <a:gdLst/>
                <a:ahLst/>
                <a:cxnLst/>
                <a:rect l="l" t="t" r="r" b="b"/>
                <a:pathLst>
                  <a:path w="812800" h="697293">
                    <a:moveTo>
                      <a:pt x="406400" y="0"/>
                    </a:moveTo>
                    <a:cubicBezTo>
                      <a:pt x="181951" y="0"/>
                      <a:pt x="0" y="156094"/>
                      <a:pt x="0" y="348647"/>
                    </a:cubicBezTo>
                    <a:cubicBezTo>
                      <a:pt x="0" y="541199"/>
                      <a:pt x="181951" y="697293"/>
                      <a:pt x="406400" y="697293"/>
                    </a:cubicBezTo>
                    <a:cubicBezTo>
                      <a:pt x="630849" y="697293"/>
                      <a:pt x="812800" y="541199"/>
                      <a:pt x="812800" y="348647"/>
                    </a:cubicBezTo>
                    <a:cubicBezTo>
                      <a:pt x="812800" y="156094"/>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48" name="TextBox 48"/>
              <p:cNvSpPr txBox="1"/>
              <p:nvPr/>
            </p:nvSpPr>
            <p:spPr>
              <a:xfrm>
                <a:off x="76200" y="27271"/>
                <a:ext cx="660400" cy="604651"/>
              </a:xfrm>
              <a:prstGeom prst="rect">
                <a:avLst/>
              </a:prstGeom>
            </p:spPr>
            <p:txBody>
              <a:bodyPr lIns="50800" tIns="50800" rIns="50800" bIns="50800" rtlCol="0" anchor="ctr"/>
              <a:lstStyle/>
              <a:p>
                <a:pPr marL="0" lvl="0" indent="0" algn="ctr">
                  <a:lnSpc>
                    <a:spcPts val="2660"/>
                  </a:lnSpc>
                </a:pPr>
              </a:p>
            </p:txBody>
          </p:sp>
        </p:grpSp>
        <p:sp>
          <p:nvSpPr>
            <p:cNvPr id="49" name="TextBox 49"/>
            <p:cNvSpPr txBox="1"/>
            <p:nvPr/>
          </p:nvSpPr>
          <p:spPr>
            <a:xfrm>
              <a:off x="175623" y="245086"/>
              <a:ext cx="644736" cy="335695"/>
            </a:xfrm>
            <a:prstGeom prst="rect">
              <a:avLst/>
            </a:prstGeom>
          </p:spPr>
          <p:txBody>
            <a:bodyPr lIns="0" tIns="0" rIns="0" bIns="0" rtlCol="0" anchor="t">
              <a:spAutoFit/>
            </a:bodyPr>
            <a:lstStyle/>
            <a:p>
              <a:pPr marL="0" lvl="0" indent="0" algn="ctr">
                <a:lnSpc>
                  <a:spcPts val="1955"/>
                </a:lnSpc>
              </a:pPr>
              <a:r>
                <a:rPr lang="en-US" sz="1515" spc="-4">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04</a:t>
              </a:r>
              <a:endParaRPr lang="en-US" sz="1515" spc="-4">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p:txBody>
        </p:sp>
      </p:grpSp>
      <p:sp>
        <p:nvSpPr>
          <p:cNvPr id="50" name="TextBox 50"/>
          <p:cNvSpPr txBox="1"/>
          <p:nvPr/>
        </p:nvSpPr>
        <p:spPr>
          <a:xfrm>
            <a:off x="3363658" y="1531339"/>
            <a:ext cx="11560683" cy="1273720"/>
          </a:xfrm>
          <a:prstGeom prst="rect">
            <a:avLst/>
          </a:prstGeom>
        </p:spPr>
        <p:txBody>
          <a:bodyPr lIns="0" tIns="0" rIns="0" bIns="0" rtlCol="0" anchor="t">
            <a:spAutoFit/>
          </a:bodyPr>
          <a:lstStyle/>
          <a:p>
            <a:pPr marL="0" lvl="0" indent="0" algn="ctr">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Technology Stack</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6438046" y="199454"/>
            <a:ext cx="1849954" cy="1648713"/>
            <a:chOff x="0" y="0"/>
            <a:chExt cx="2466605" cy="2198284"/>
          </a:xfrm>
        </p:grpSpPr>
        <p:grpSp>
          <p:nvGrpSpPr>
            <p:cNvPr id="3" name="Group 3"/>
            <p:cNvGrpSpPr/>
            <p:nvPr/>
          </p:nvGrpSpPr>
          <p:grpSpPr>
            <a:xfrm rot="0">
              <a:off x="0" y="0"/>
              <a:ext cx="2466605" cy="2198284"/>
              <a:chOff x="0" y="0"/>
              <a:chExt cx="787566" cy="701893"/>
            </a:xfrm>
          </p:grpSpPr>
          <p:sp>
            <p:nvSpPr>
              <p:cNvPr id="4" name="Freeform 4"/>
              <p:cNvSpPr/>
              <p:nvPr/>
            </p:nvSpPr>
            <p:spPr>
              <a:xfrm>
                <a:off x="0" y="0"/>
                <a:ext cx="787566" cy="701893"/>
              </a:xfrm>
              <a:custGeom>
                <a:avLst/>
                <a:gdLst/>
                <a:ahLst/>
                <a:cxnLst/>
                <a:rect l="l" t="t" r="r" b="b"/>
                <a:pathLst>
                  <a:path w="787566" h="701893">
                    <a:moveTo>
                      <a:pt x="0" y="0"/>
                    </a:moveTo>
                    <a:lnTo>
                      <a:pt x="787566" y="0"/>
                    </a:lnTo>
                    <a:lnTo>
                      <a:pt x="787566" y="701893"/>
                    </a:lnTo>
                    <a:lnTo>
                      <a:pt x="0" y="70189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5" name="TextBox 5"/>
              <p:cNvSpPr txBox="1"/>
              <p:nvPr/>
            </p:nvSpPr>
            <p:spPr>
              <a:xfrm>
                <a:off x="0" y="-38100"/>
                <a:ext cx="787566" cy="739993"/>
              </a:xfrm>
              <a:prstGeom prst="rect">
                <a:avLst/>
              </a:prstGeom>
            </p:spPr>
            <p:txBody>
              <a:bodyPr lIns="50800" tIns="50800" rIns="50800" bIns="50800" rtlCol="0" anchor="ctr"/>
              <a:lstStyle/>
              <a:p>
                <a:pPr marL="0" lvl="0" indent="0" algn="ctr">
                  <a:lnSpc>
                    <a:spcPts val="2660"/>
                  </a:lnSpc>
                  <a:spcBef>
                    <a:spcPct val="0"/>
                  </a:spcBef>
                </a:pPr>
              </a:p>
            </p:txBody>
          </p:sp>
        </p:grpSp>
        <p:sp>
          <p:nvSpPr>
            <p:cNvPr id="6" name="TextBox 6"/>
            <p:cNvSpPr txBox="1"/>
            <p:nvPr/>
          </p:nvSpPr>
          <p:spPr>
            <a:xfrm>
              <a:off x="319164" y="674999"/>
              <a:ext cx="1828278" cy="953061"/>
            </a:xfrm>
            <a:prstGeom prst="rect">
              <a:avLst/>
            </a:prstGeom>
          </p:spPr>
          <p:txBody>
            <a:bodyPr lIns="0" tIns="0" rIns="0" bIns="0" rtlCol="0" anchor="t">
              <a:spAutoFit/>
            </a:bodyPr>
            <a:lstStyle/>
            <a:p>
              <a:pPr marL="0" lvl="0" indent="0" algn="ctr">
                <a:lnSpc>
                  <a:spcPts val="5110"/>
                </a:lnSpc>
              </a:pPr>
              <a:r>
                <a:rPr lang="en-US" sz="5215" spc="-333">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07</a:t>
              </a:r>
              <a:endParaRPr lang="en-US" sz="5215" spc="-333">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7" name="Group 7"/>
          <p:cNvGrpSpPr/>
          <p:nvPr/>
        </p:nvGrpSpPr>
        <p:grpSpPr>
          <a:xfrm rot="0">
            <a:off x="5536445" y="2779355"/>
            <a:ext cx="7215109" cy="379246"/>
            <a:chOff x="0" y="0"/>
            <a:chExt cx="9620146" cy="505662"/>
          </a:xfrm>
        </p:grpSpPr>
        <p:sp>
          <p:nvSpPr>
            <p:cNvPr id="8" name="TextBox 8"/>
            <p:cNvSpPr txBox="1"/>
            <p:nvPr/>
          </p:nvSpPr>
          <p:spPr>
            <a:xfrm>
              <a:off x="0" y="67845"/>
              <a:ext cx="9403826" cy="437817"/>
            </a:xfrm>
            <a:prstGeom prst="rect">
              <a:avLst/>
            </a:prstGeom>
          </p:spPr>
          <p:txBody>
            <a:bodyPr lIns="0" tIns="0" rIns="0" bIns="0" rtlCol="0" anchor="t">
              <a:spAutoFit/>
            </a:bodyPr>
            <a:lstStyle/>
            <a:p>
              <a:pPr marL="0" lvl="0" indent="0" algn="l">
                <a:lnSpc>
                  <a:spcPts val="2640"/>
                </a:lnSpc>
              </a:pPr>
              <a:r>
                <a:rPr lang="en-US" sz="1885" b="1" spc="-47">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DATA PIPELINE: FROM RAW INPUT TO MODEL-READY FEATURES</a:t>
              </a:r>
              <a:endParaRPr lang="en-US" sz="1885" b="1" spc="-47">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9" name="Freeform 9"/>
            <p:cNvSpPr/>
            <p:nvPr/>
          </p:nvSpPr>
          <p:spPr>
            <a:xfrm rot="-8687136">
              <a:off x="9303126"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sp>
        <p:nvSpPr>
          <p:cNvPr id="10" name="TextBox 10"/>
          <p:cNvSpPr txBox="1"/>
          <p:nvPr/>
        </p:nvSpPr>
        <p:spPr>
          <a:xfrm>
            <a:off x="3363658" y="1301832"/>
            <a:ext cx="11560683" cy="1219855"/>
          </a:xfrm>
          <a:prstGeom prst="rect">
            <a:avLst/>
          </a:prstGeom>
        </p:spPr>
        <p:txBody>
          <a:bodyPr lIns="0" tIns="0" rIns="0" bIns="0" rtlCol="0" anchor="t">
            <a:spAutoFit/>
          </a:bodyPr>
          <a:lstStyle/>
          <a:p>
            <a:pPr marL="0" lvl="0" indent="0" algn="ctr">
              <a:lnSpc>
                <a:spcPts val="9045"/>
              </a:lnSpc>
            </a:pPr>
            <a:r>
              <a:rPr lang="en-US" sz="9230" spc="-590">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Data Input &amp; Processing</a:t>
            </a:r>
            <a:endParaRPr lang="en-US" sz="9230" spc="-590">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11" name="Group 11"/>
          <p:cNvGrpSpPr/>
          <p:nvPr/>
        </p:nvGrpSpPr>
        <p:grpSpPr>
          <a:xfrm rot="0">
            <a:off x="2731310" y="3878731"/>
            <a:ext cx="3213033" cy="5379569"/>
            <a:chOff x="0" y="0"/>
            <a:chExt cx="1387961" cy="2323857"/>
          </a:xfrm>
        </p:grpSpPr>
        <p:sp>
          <p:nvSpPr>
            <p:cNvPr id="12" name="Freeform 12"/>
            <p:cNvSpPr/>
            <p:nvPr/>
          </p:nvSpPr>
          <p:spPr>
            <a:xfrm>
              <a:off x="0" y="0"/>
              <a:ext cx="1387961" cy="2323857"/>
            </a:xfrm>
            <a:custGeom>
              <a:avLst/>
              <a:gdLst/>
              <a:ahLst/>
              <a:cxnLst/>
              <a:rect l="l" t="t" r="r" b="b"/>
              <a:pathLst>
                <a:path w="1387961" h="2323857">
                  <a:moveTo>
                    <a:pt x="0" y="0"/>
                  </a:moveTo>
                  <a:lnTo>
                    <a:pt x="1387961" y="0"/>
                  </a:lnTo>
                  <a:lnTo>
                    <a:pt x="1387961" y="2323857"/>
                  </a:lnTo>
                  <a:lnTo>
                    <a:pt x="0" y="2323857"/>
                  </a:lnTo>
                  <a:close/>
                </a:path>
              </a:pathLst>
            </a:custGeom>
            <a:solidFill>
              <a:srgbClr val="2B42A8"/>
            </a:solidFill>
          </p:spPr>
        </p:sp>
        <p:sp>
          <p:nvSpPr>
            <p:cNvPr id="13" name="TextBox 13"/>
            <p:cNvSpPr txBox="1"/>
            <p:nvPr/>
          </p:nvSpPr>
          <p:spPr>
            <a:xfrm>
              <a:off x="0" y="-38100"/>
              <a:ext cx="1387961" cy="2361957"/>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14" name="Group 14"/>
          <p:cNvGrpSpPr/>
          <p:nvPr/>
        </p:nvGrpSpPr>
        <p:grpSpPr>
          <a:xfrm rot="0">
            <a:off x="5935426" y="3878731"/>
            <a:ext cx="3213033" cy="5379569"/>
            <a:chOff x="0" y="0"/>
            <a:chExt cx="1387961" cy="2323857"/>
          </a:xfrm>
        </p:grpSpPr>
        <p:sp>
          <p:nvSpPr>
            <p:cNvPr id="15" name="Freeform 15"/>
            <p:cNvSpPr/>
            <p:nvPr/>
          </p:nvSpPr>
          <p:spPr>
            <a:xfrm>
              <a:off x="0" y="0"/>
              <a:ext cx="1387961" cy="2323857"/>
            </a:xfrm>
            <a:custGeom>
              <a:avLst/>
              <a:gdLst/>
              <a:ahLst/>
              <a:cxnLst/>
              <a:rect l="l" t="t" r="r" b="b"/>
              <a:pathLst>
                <a:path w="1387961" h="2323857">
                  <a:moveTo>
                    <a:pt x="0" y="0"/>
                  </a:moveTo>
                  <a:lnTo>
                    <a:pt x="1387961" y="0"/>
                  </a:lnTo>
                  <a:lnTo>
                    <a:pt x="1387961" y="2323857"/>
                  </a:lnTo>
                  <a:lnTo>
                    <a:pt x="0" y="2323857"/>
                  </a:lnTo>
                  <a:close/>
                </a:path>
              </a:pathLst>
            </a:custGeom>
            <a:solidFill>
              <a:srgbClr val="3A58E4"/>
            </a:solidFill>
          </p:spPr>
        </p:sp>
        <p:sp>
          <p:nvSpPr>
            <p:cNvPr id="16" name="TextBox 16"/>
            <p:cNvSpPr txBox="1"/>
            <p:nvPr/>
          </p:nvSpPr>
          <p:spPr>
            <a:xfrm>
              <a:off x="0" y="-38100"/>
              <a:ext cx="1387961" cy="2361957"/>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17" name="Group 17"/>
          <p:cNvGrpSpPr/>
          <p:nvPr/>
        </p:nvGrpSpPr>
        <p:grpSpPr>
          <a:xfrm rot="0">
            <a:off x="9139541" y="3878731"/>
            <a:ext cx="3213033" cy="5379569"/>
            <a:chOff x="0" y="0"/>
            <a:chExt cx="1387961" cy="2323857"/>
          </a:xfrm>
        </p:grpSpPr>
        <p:sp>
          <p:nvSpPr>
            <p:cNvPr id="18" name="Freeform 18"/>
            <p:cNvSpPr/>
            <p:nvPr/>
          </p:nvSpPr>
          <p:spPr>
            <a:xfrm>
              <a:off x="0" y="0"/>
              <a:ext cx="1387961" cy="2323857"/>
            </a:xfrm>
            <a:custGeom>
              <a:avLst/>
              <a:gdLst/>
              <a:ahLst/>
              <a:cxnLst/>
              <a:rect l="l" t="t" r="r" b="b"/>
              <a:pathLst>
                <a:path w="1387961" h="2323857">
                  <a:moveTo>
                    <a:pt x="0" y="0"/>
                  </a:moveTo>
                  <a:lnTo>
                    <a:pt x="1387961" y="0"/>
                  </a:lnTo>
                  <a:lnTo>
                    <a:pt x="1387961" y="2323857"/>
                  </a:lnTo>
                  <a:lnTo>
                    <a:pt x="0" y="2323857"/>
                  </a:lnTo>
                  <a:close/>
                </a:path>
              </a:pathLst>
            </a:custGeom>
            <a:solidFill>
              <a:srgbClr val="6984FE"/>
            </a:solidFill>
          </p:spPr>
        </p:sp>
        <p:sp>
          <p:nvSpPr>
            <p:cNvPr id="19" name="TextBox 19"/>
            <p:cNvSpPr txBox="1"/>
            <p:nvPr/>
          </p:nvSpPr>
          <p:spPr>
            <a:xfrm>
              <a:off x="0" y="-38100"/>
              <a:ext cx="1387961" cy="2361957"/>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20" name="Group 20"/>
          <p:cNvGrpSpPr/>
          <p:nvPr/>
        </p:nvGrpSpPr>
        <p:grpSpPr>
          <a:xfrm rot="0">
            <a:off x="12343657" y="3878731"/>
            <a:ext cx="3213033" cy="5379569"/>
            <a:chOff x="0" y="0"/>
            <a:chExt cx="1387961" cy="2323857"/>
          </a:xfrm>
        </p:grpSpPr>
        <p:sp>
          <p:nvSpPr>
            <p:cNvPr id="21" name="Freeform 21"/>
            <p:cNvSpPr/>
            <p:nvPr/>
          </p:nvSpPr>
          <p:spPr>
            <a:xfrm>
              <a:off x="0" y="0"/>
              <a:ext cx="1387961" cy="2323857"/>
            </a:xfrm>
            <a:custGeom>
              <a:avLst/>
              <a:gdLst/>
              <a:ahLst/>
              <a:cxnLst/>
              <a:rect l="l" t="t" r="r" b="b"/>
              <a:pathLst>
                <a:path w="1387961" h="2323857">
                  <a:moveTo>
                    <a:pt x="0" y="0"/>
                  </a:moveTo>
                  <a:lnTo>
                    <a:pt x="1387961" y="0"/>
                  </a:lnTo>
                  <a:lnTo>
                    <a:pt x="1387961" y="2323857"/>
                  </a:lnTo>
                  <a:lnTo>
                    <a:pt x="0" y="2323857"/>
                  </a:lnTo>
                  <a:close/>
                </a:path>
              </a:pathLst>
            </a:custGeom>
            <a:solidFill>
              <a:srgbClr val="9AADFF"/>
            </a:solidFill>
          </p:spPr>
        </p:sp>
        <p:sp>
          <p:nvSpPr>
            <p:cNvPr id="22" name="TextBox 22"/>
            <p:cNvSpPr txBox="1"/>
            <p:nvPr/>
          </p:nvSpPr>
          <p:spPr>
            <a:xfrm>
              <a:off x="0" y="-38100"/>
              <a:ext cx="1387961" cy="2361957"/>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23" name="Group 23"/>
          <p:cNvGrpSpPr/>
          <p:nvPr/>
        </p:nvGrpSpPr>
        <p:grpSpPr>
          <a:xfrm rot="5400000">
            <a:off x="2595745" y="7780405"/>
            <a:ext cx="622999" cy="351870"/>
            <a:chOff x="0" y="0"/>
            <a:chExt cx="1387983" cy="784032"/>
          </a:xfrm>
        </p:grpSpPr>
        <p:sp>
          <p:nvSpPr>
            <p:cNvPr id="24" name="Freeform 24"/>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AFBEFF"/>
            </a:solidFill>
          </p:spPr>
        </p:sp>
        <p:sp>
          <p:nvSpPr>
            <p:cNvPr id="25" name="TextBox 25"/>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26" name="Group 26"/>
          <p:cNvGrpSpPr/>
          <p:nvPr/>
        </p:nvGrpSpPr>
        <p:grpSpPr>
          <a:xfrm rot="5400000">
            <a:off x="5780811" y="5004756"/>
            <a:ext cx="622999" cy="351870"/>
            <a:chOff x="0" y="0"/>
            <a:chExt cx="1387983" cy="784032"/>
          </a:xfrm>
        </p:grpSpPr>
        <p:sp>
          <p:nvSpPr>
            <p:cNvPr id="27" name="Freeform 27"/>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2B42A8"/>
            </a:solidFill>
          </p:spPr>
        </p:sp>
        <p:sp>
          <p:nvSpPr>
            <p:cNvPr id="28" name="TextBox 28"/>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29" name="Group 29"/>
          <p:cNvGrpSpPr/>
          <p:nvPr/>
        </p:nvGrpSpPr>
        <p:grpSpPr>
          <a:xfrm rot="5400000">
            <a:off x="8984927" y="7780405"/>
            <a:ext cx="622999" cy="351870"/>
            <a:chOff x="0" y="0"/>
            <a:chExt cx="1387983" cy="784032"/>
          </a:xfrm>
        </p:grpSpPr>
        <p:sp>
          <p:nvSpPr>
            <p:cNvPr id="30" name="Freeform 30"/>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3A58E4"/>
            </a:solidFill>
          </p:spPr>
        </p:sp>
        <p:sp>
          <p:nvSpPr>
            <p:cNvPr id="31" name="TextBox 31"/>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32" name="Group 32"/>
          <p:cNvGrpSpPr/>
          <p:nvPr/>
        </p:nvGrpSpPr>
        <p:grpSpPr>
          <a:xfrm rot="5400000">
            <a:off x="12179518" y="5004756"/>
            <a:ext cx="622999" cy="351870"/>
            <a:chOff x="0" y="0"/>
            <a:chExt cx="1387983" cy="784032"/>
          </a:xfrm>
        </p:grpSpPr>
        <p:sp>
          <p:nvSpPr>
            <p:cNvPr id="33" name="Freeform 33"/>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6984FE"/>
            </a:solidFill>
          </p:spPr>
        </p:sp>
        <p:sp>
          <p:nvSpPr>
            <p:cNvPr id="34" name="TextBox 34"/>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35" name="Group 35"/>
          <p:cNvGrpSpPr/>
          <p:nvPr/>
        </p:nvGrpSpPr>
        <p:grpSpPr>
          <a:xfrm rot="0">
            <a:off x="3269864" y="4527055"/>
            <a:ext cx="2135924" cy="1757242"/>
            <a:chOff x="0" y="0"/>
            <a:chExt cx="2847898" cy="2342990"/>
          </a:xfrm>
        </p:grpSpPr>
        <p:sp>
          <p:nvSpPr>
            <p:cNvPr id="36" name="TextBox 36"/>
            <p:cNvSpPr txBox="1"/>
            <p:nvPr/>
          </p:nvSpPr>
          <p:spPr>
            <a:xfrm>
              <a:off x="0" y="-19050"/>
              <a:ext cx="2847898" cy="606524"/>
            </a:xfrm>
            <a:prstGeom prst="rect">
              <a:avLst/>
            </a:prstGeom>
          </p:spPr>
          <p:txBody>
            <a:bodyPr lIns="0" tIns="0" rIns="0" bIns="0" rtlCol="0" anchor="t">
              <a:spAutoFit/>
            </a:bodyPr>
            <a:lstStyle/>
            <a:p>
              <a:pPr marL="0" lvl="0" indent="0" algn="just">
                <a:lnSpc>
                  <a:spcPts val="1870"/>
                </a:lnSpc>
              </a:pPr>
              <a:r>
                <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rPr>
                <a:t>CSV</a:t>
              </a:r>
              <a:endPar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0" lvl="0" indent="0" algn="just">
                <a:lnSpc>
                  <a:spcPts val="1870"/>
                </a:lnSpc>
              </a:pPr>
              <a:r>
                <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rPr>
                <a:t>UPLOAD</a:t>
              </a:r>
              <a:endPar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37" name="TextBox 37"/>
            <p:cNvSpPr txBox="1"/>
            <p:nvPr/>
          </p:nvSpPr>
          <p:spPr>
            <a:xfrm>
              <a:off x="0" y="874845"/>
              <a:ext cx="2847898" cy="1468145"/>
            </a:xfrm>
            <a:prstGeom prst="rect">
              <a:avLst/>
            </a:prstGeom>
          </p:spPr>
          <p:txBody>
            <a:bodyPr lIns="0" tIns="0" rIns="0" bIns="0" rtlCol="0" anchor="t">
              <a:spAutoFit/>
            </a:bodyPr>
            <a:lstStyle/>
            <a:p>
              <a:pPr marL="0" lvl="0" indent="0" algn="just">
                <a:lnSpc>
                  <a:spcPts val="1770"/>
                </a:lnSpc>
              </a:pPr>
              <a:r>
                <a:rPr lang="en-US" sz="1375" spc="-4">
                  <a:solidFill>
                    <a:srgbClr val="FFFFFF"/>
                  </a:solidFill>
                  <a:latin typeface="Poppins" panose="00000500000000000000"/>
                  <a:ea typeface="Poppins" panose="00000500000000000000"/>
                  <a:cs typeface="Poppins" panose="00000500000000000000"/>
                  <a:sym typeface="Poppins" panose="00000500000000000000"/>
                </a:rPr>
                <a:t>Import resource usage data via CSV file with timestamps, CPU, memory, and network metrics.</a:t>
              </a:r>
              <a:endParaRPr lang="en-US" sz="1375" spc="-4">
                <a:solidFill>
                  <a:srgbClr val="FFFFFF"/>
                </a:solidFill>
                <a:latin typeface="Poppins" panose="00000500000000000000"/>
                <a:ea typeface="Poppins" panose="00000500000000000000"/>
                <a:cs typeface="Poppins" panose="00000500000000000000"/>
                <a:sym typeface="Poppins" panose="00000500000000000000"/>
              </a:endParaRPr>
            </a:p>
          </p:txBody>
        </p:sp>
      </p:grpSp>
      <p:sp>
        <p:nvSpPr>
          <p:cNvPr id="38" name="TextBox 38"/>
          <p:cNvSpPr txBox="1"/>
          <p:nvPr/>
        </p:nvSpPr>
        <p:spPr>
          <a:xfrm>
            <a:off x="4470562" y="7606469"/>
            <a:ext cx="1445813" cy="1333966"/>
          </a:xfrm>
          <a:prstGeom prst="rect">
            <a:avLst/>
          </a:prstGeom>
        </p:spPr>
        <p:txBody>
          <a:bodyPr lIns="0" tIns="0" rIns="0" bIns="0" rtlCol="0" anchor="t">
            <a:spAutoFit/>
          </a:bodyPr>
          <a:lstStyle/>
          <a:p>
            <a:pPr marL="0" lvl="0" indent="0" algn="just">
              <a:lnSpc>
                <a:spcPts val="10875"/>
              </a:lnSpc>
            </a:pPr>
            <a:r>
              <a:rPr lang="en-US" sz="8430" spc="-2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01</a:t>
            </a:r>
            <a:endParaRPr lang="en-US" sz="8430" spc="-2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39" name="Group 39"/>
          <p:cNvGrpSpPr/>
          <p:nvPr/>
        </p:nvGrpSpPr>
        <p:grpSpPr>
          <a:xfrm rot="0">
            <a:off x="6473980" y="7281173"/>
            <a:ext cx="2135924" cy="1309567"/>
            <a:chOff x="0" y="0"/>
            <a:chExt cx="2847898" cy="1746090"/>
          </a:xfrm>
        </p:grpSpPr>
        <p:sp>
          <p:nvSpPr>
            <p:cNvPr id="40" name="TextBox 40"/>
            <p:cNvSpPr txBox="1"/>
            <p:nvPr/>
          </p:nvSpPr>
          <p:spPr>
            <a:xfrm>
              <a:off x="0" y="-19050"/>
              <a:ext cx="2847898" cy="301724"/>
            </a:xfrm>
            <a:prstGeom prst="rect">
              <a:avLst/>
            </a:prstGeom>
          </p:spPr>
          <p:txBody>
            <a:bodyPr lIns="0" tIns="0" rIns="0" bIns="0" rtlCol="0" anchor="t">
              <a:spAutoFit/>
            </a:bodyPr>
            <a:lstStyle/>
            <a:p>
              <a:pPr marL="0" lvl="0" indent="0" algn="just">
                <a:lnSpc>
                  <a:spcPts val="1870"/>
                </a:lnSpc>
              </a:pPr>
              <a:r>
                <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rPr>
                <a:t>DATA VALIDATION</a:t>
              </a:r>
              <a:endPar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41" name="TextBox 41"/>
            <p:cNvSpPr txBox="1"/>
            <p:nvPr/>
          </p:nvSpPr>
          <p:spPr>
            <a:xfrm>
              <a:off x="0" y="570045"/>
              <a:ext cx="2847898" cy="1176045"/>
            </a:xfrm>
            <a:prstGeom prst="rect">
              <a:avLst/>
            </a:prstGeom>
          </p:spPr>
          <p:txBody>
            <a:bodyPr lIns="0" tIns="0" rIns="0" bIns="0" rtlCol="0" anchor="t">
              <a:spAutoFit/>
            </a:bodyPr>
            <a:lstStyle/>
            <a:p>
              <a:pPr marL="0" lvl="0" indent="0" algn="just">
                <a:lnSpc>
                  <a:spcPts val="1770"/>
                </a:lnSpc>
              </a:pPr>
              <a:r>
                <a:rPr lang="en-US" sz="1375" spc="-4">
                  <a:solidFill>
                    <a:srgbClr val="FFFFFF"/>
                  </a:solidFill>
                  <a:latin typeface="Poppins" panose="00000500000000000000"/>
                  <a:ea typeface="Poppins" panose="00000500000000000000"/>
                  <a:cs typeface="Poppins" panose="00000500000000000000"/>
                  <a:sym typeface="Poppins" panose="00000500000000000000"/>
                </a:rPr>
                <a:t>Check schema integrity, detect missing fields, and flag malformed or out-of-range entries.</a:t>
              </a:r>
              <a:endParaRPr lang="en-US" sz="1375" spc="-4">
                <a:solidFill>
                  <a:srgbClr val="FFFFFF"/>
                </a:solidFill>
                <a:latin typeface="Poppins" panose="00000500000000000000"/>
                <a:ea typeface="Poppins" panose="00000500000000000000"/>
                <a:cs typeface="Poppins" panose="00000500000000000000"/>
                <a:sym typeface="Poppins" panose="00000500000000000000"/>
              </a:endParaRPr>
            </a:p>
          </p:txBody>
        </p:sp>
      </p:grpSp>
      <p:sp>
        <p:nvSpPr>
          <p:cNvPr id="42" name="TextBox 42"/>
          <p:cNvSpPr txBox="1"/>
          <p:nvPr/>
        </p:nvSpPr>
        <p:spPr>
          <a:xfrm>
            <a:off x="7425798" y="4158225"/>
            <a:ext cx="1578549" cy="1333966"/>
          </a:xfrm>
          <a:prstGeom prst="rect">
            <a:avLst/>
          </a:prstGeom>
        </p:spPr>
        <p:txBody>
          <a:bodyPr lIns="0" tIns="0" rIns="0" bIns="0" rtlCol="0" anchor="t">
            <a:spAutoFit/>
          </a:bodyPr>
          <a:lstStyle/>
          <a:p>
            <a:pPr marL="0" lvl="0" indent="0" algn="just">
              <a:lnSpc>
                <a:spcPts val="10875"/>
              </a:lnSpc>
            </a:pPr>
            <a:r>
              <a:rPr lang="en-US" sz="8430" spc="-2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02</a:t>
            </a:r>
            <a:endParaRPr lang="en-US" sz="8430" spc="-2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43" name="Group 43"/>
          <p:cNvGrpSpPr/>
          <p:nvPr/>
        </p:nvGrpSpPr>
        <p:grpSpPr>
          <a:xfrm rot="0">
            <a:off x="9681912" y="4527055"/>
            <a:ext cx="2135924" cy="1757242"/>
            <a:chOff x="0" y="0"/>
            <a:chExt cx="2847898" cy="2342990"/>
          </a:xfrm>
        </p:grpSpPr>
        <p:sp>
          <p:nvSpPr>
            <p:cNvPr id="44" name="TextBox 44"/>
            <p:cNvSpPr txBox="1"/>
            <p:nvPr/>
          </p:nvSpPr>
          <p:spPr>
            <a:xfrm>
              <a:off x="0" y="-19050"/>
              <a:ext cx="2847898" cy="606524"/>
            </a:xfrm>
            <a:prstGeom prst="rect">
              <a:avLst/>
            </a:prstGeom>
          </p:spPr>
          <p:txBody>
            <a:bodyPr lIns="0" tIns="0" rIns="0" bIns="0" rtlCol="0" anchor="t">
              <a:spAutoFit/>
            </a:bodyPr>
            <a:lstStyle/>
            <a:p>
              <a:pPr marL="0" lvl="0" indent="0" algn="just">
                <a:lnSpc>
                  <a:spcPts val="1870"/>
                </a:lnSpc>
              </a:pPr>
              <a:r>
                <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rPr>
                <a:t>PREPROCESSING &amp; CLEANING</a:t>
              </a:r>
              <a:endPar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45" name="TextBox 45"/>
            <p:cNvSpPr txBox="1"/>
            <p:nvPr/>
          </p:nvSpPr>
          <p:spPr>
            <a:xfrm>
              <a:off x="0" y="874845"/>
              <a:ext cx="2847898" cy="1468145"/>
            </a:xfrm>
            <a:prstGeom prst="rect">
              <a:avLst/>
            </a:prstGeom>
          </p:spPr>
          <p:txBody>
            <a:bodyPr lIns="0" tIns="0" rIns="0" bIns="0" rtlCol="0" anchor="t">
              <a:spAutoFit/>
            </a:bodyPr>
            <a:lstStyle/>
            <a:p>
              <a:pPr marL="0" lvl="0" indent="0" algn="just">
                <a:lnSpc>
                  <a:spcPts val="1770"/>
                </a:lnSpc>
              </a:pPr>
              <a:r>
                <a:rPr lang="en-US" sz="1375" spc="-4">
                  <a:solidFill>
                    <a:srgbClr val="FFFFFF"/>
                  </a:solidFill>
                  <a:latin typeface="Poppins" panose="00000500000000000000"/>
                  <a:ea typeface="Poppins" panose="00000500000000000000"/>
                  <a:cs typeface="Poppins" panose="00000500000000000000"/>
                  <a:sym typeface="Poppins" panose="00000500000000000000"/>
                </a:rPr>
                <a:t>Handle null values, remove duplicates, normalize data, and resample to uniform time intervals.</a:t>
              </a:r>
              <a:endParaRPr lang="en-US" sz="1375" spc="-4">
                <a:solidFill>
                  <a:srgbClr val="FFFFFF"/>
                </a:solidFill>
                <a:latin typeface="Poppins" panose="00000500000000000000"/>
                <a:ea typeface="Poppins" panose="00000500000000000000"/>
                <a:cs typeface="Poppins" panose="00000500000000000000"/>
                <a:sym typeface="Poppins" panose="00000500000000000000"/>
              </a:endParaRPr>
            </a:p>
          </p:txBody>
        </p:sp>
      </p:grpSp>
      <p:sp>
        <p:nvSpPr>
          <p:cNvPr id="46" name="TextBox 46"/>
          <p:cNvSpPr txBox="1"/>
          <p:nvPr/>
        </p:nvSpPr>
        <p:spPr>
          <a:xfrm>
            <a:off x="10617138" y="7606469"/>
            <a:ext cx="1711285" cy="1333966"/>
          </a:xfrm>
          <a:prstGeom prst="rect">
            <a:avLst/>
          </a:prstGeom>
        </p:spPr>
        <p:txBody>
          <a:bodyPr lIns="0" tIns="0" rIns="0" bIns="0" rtlCol="0" anchor="t">
            <a:spAutoFit/>
          </a:bodyPr>
          <a:lstStyle/>
          <a:p>
            <a:pPr marL="0" lvl="0" indent="0" algn="just">
              <a:lnSpc>
                <a:spcPts val="10875"/>
              </a:lnSpc>
            </a:pPr>
            <a:r>
              <a:rPr lang="en-US" sz="8430" spc="-2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03</a:t>
            </a:r>
            <a:endParaRPr lang="en-US" sz="8430" spc="-2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47" name="Group 47"/>
          <p:cNvGrpSpPr/>
          <p:nvPr/>
        </p:nvGrpSpPr>
        <p:grpSpPr>
          <a:xfrm rot="0">
            <a:off x="12886027" y="6833498"/>
            <a:ext cx="2135924" cy="1757242"/>
            <a:chOff x="0" y="0"/>
            <a:chExt cx="2847898" cy="2342990"/>
          </a:xfrm>
        </p:grpSpPr>
        <p:sp>
          <p:nvSpPr>
            <p:cNvPr id="48" name="TextBox 48"/>
            <p:cNvSpPr txBox="1"/>
            <p:nvPr/>
          </p:nvSpPr>
          <p:spPr>
            <a:xfrm>
              <a:off x="0" y="-19050"/>
              <a:ext cx="2847898" cy="606524"/>
            </a:xfrm>
            <a:prstGeom prst="rect">
              <a:avLst/>
            </a:prstGeom>
          </p:spPr>
          <p:txBody>
            <a:bodyPr lIns="0" tIns="0" rIns="0" bIns="0" rtlCol="0" anchor="t">
              <a:spAutoFit/>
            </a:bodyPr>
            <a:lstStyle/>
            <a:p>
              <a:pPr marL="0" lvl="0" indent="0" algn="just">
                <a:lnSpc>
                  <a:spcPts val="1870"/>
                </a:lnSpc>
              </a:pPr>
              <a:r>
                <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rPr>
                <a:t>FEATURE</a:t>
              </a:r>
              <a:endPar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endParaRPr>
            </a:p>
            <a:p>
              <a:pPr marL="0" lvl="0" indent="0" algn="just">
                <a:lnSpc>
                  <a:spcPts val="1870"/>
                </a:lnSpc>
              </a:pPr>
              <a:r>
                <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rPr>
                <a:t>ENGINEERING</a:t>
              </a:r>
              <a:endParaRPr lang="en-US" sz="1450" b="1" spc="-4">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49" name="TextBox 49"/>
            <p:cNvSpPr txBox="1"/>
            <p:nvPr/>
          </p:nvSpPr>
          <p:spPr>
            <a:xfrm>
              <a:off x="0" y="874845"/>
              <a:ext cx="2847898" cy="1468145"/>
            </a:xfrm>
            <a:prstGeom prst="rect">
              <a:avLst/>
            </a:prstGeom>
          </p:spPr>
          <p:txBody>
            <a:bodyPr lIns="0" tIns="0" rIns="0" bIns="0" rtlCol="0" anchor="t">
              <a:spAutoFit/>
            </a:bodyPr>
            <a:lstStyle/>
            <a:p>
              <a:pPr marL="0" lvl="0" indent="0" algn="just">
                <a:lnSpc>
                  <a:spcPts val="1770"/>
                </a:lnSpc>
              </a:pPr>
              <a:r>
                <a:rPr lang="en-US" sz="1375" spc="-4">
                  <a:solidFill>
                    <a:srgbClr val="FFFFFF"/>
                  </a:solidFill>
                  <a:latin typeface="Poppins" panose="00000500000000000000"/>
                  <a:ea typeface="Poppins" panose="00000500000000000000"/>
                  <a:cs typeface="Poppins" panose="00000500000000000000"/>
                  <a:sym typeface="Poppins" panose="00000500000000000000"/>
                </a:rPr>
                <a:t>Generate lag features, rolling averages, and trend indicators as model-ready input variables.</a:t>
              </a:r>
              <a:endParaRPr lang="en-US" sz="1375" spc="-4">
                <a:solidFill>
                  <a:srgbClr val="FFFFFF"/>
                </a:solidFill>
                <a:latin typeface="Poppins" panose="00000500000000000000"/>
                <a:ea typeface="Poppins" panose="00000500000000000000"/>
                <a:cs typeface="Poppins" panose="00000500000000000000"/>
                <a:sym typeface="Poppins" panose="00000500000000000000"/>
              </a:endParaRPr>
            </a:p>
          </p:txBody>
        </p:sp>
      </p:grpSp>
      <p:sp>
        <p:nvSpPr>
          <p:cNvPr id="50" name="TextBox 50"/>
          <p:cNvSpPr txBox="1"/>
          <p:nvPr/>
        </p:nvSpPr>
        <p:spPr>
          <a:xfrm>
            <a:off x="13837845" y="4158225"/>
            <a:ext cx="1578549" cy="1333966"/>
          </a:xfrm>
          <a:prstGeom prst="rect">
            <a:avLst/>
          </a:prstGeom>
        </p:spPr>
        <p:txBody>
          <a:bodyPr lIns="0" tIns="0" rIns="0" bIns="0" rtlCol="0" anchor="t">
            <a:spAutoFit/>
          </a:bodyPr>
          <a:lstStyle/>
          <a:p>
            <a:pPr marL="0" lvl="0" indent="0" algn="just">
              <a:lnSpc>
                <a:spcPts val="10875"/>
              </a:lnSpc>
            </a:pPr>
            <a:r>
              <a:rPr lang="en-US" sz="8430" spc="-2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04</a:t>
            </a:r>
            <a:endParaRPr lang="en-US" sz="8430" spc="-25">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6938179" cy="10287000"/>
            <a:chOff x="0" y="0"/>
            <a:chExt cx="1827339" cy="2709333"/>
          </a:xfrm>
        </p:grpSpPr>
        <p:sp>
          <p:nvSpPr>
            <p:cNvPr id="3" name="Freeform 3"/>
            <p:cNvSpPr/>
            <p:nvPr/>
          </p:nvSpPr>
          <p:spPr>
            <a:xfrm>
              <a:off x="0" y="0"/>
              <a:ext cx="1827339" cy="2709333"/>
            </a:xfrm>
            <a:custGeom>
              <a:avLst/>
              <a:gdLst/>
              <a:ahLst/>
              <a:cxnLst/>
              <a:rect l="l" t="t" r="r" b="b"/>
              <a:pathLst>
                <a:path w="1827339" h="2709333">
                  <a:moveTo>
                    <a:pt x="0" y="0"/>
                  </a:moveTo>
                  <a:lnTo>
                    <a:pt x="1827339" y="0"/>
                  </a:lnTo>
                  <a:lnTo>
                    <a:pt x="1827339"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1827339" cy="2747433"/>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Freeform 5"/>
          <p:cNvSpPr/>
          <p:nvPr/>
        </p:nvSpPr>
        <p:spPr>
          <a:xfrm>
            <a:off x="5343219" y="4032536"/>
            <a:ext cx="3189919" cy="620584"/>
          </a:xfrm>
          <a:custGeom>
            <a:avLst/>
            <a:gdLst/>
            <a:ahLst/>
            <a:cxnLst/>
            <a:rect l="l" t="t" r="r" b="b"/>
            <a:pathLst>
              <a:path w="3189919" h="620584">
                <a:moveTo>
                  <a:pt x="0" y="0"/>
                </a:moveTo>
                <a:lnTo>
                  <a:pt x="3189919" y="0"/>
                </a:lnTo>
                <a:lnTo>
                  <a:pt x="3189919" y="620584"/>
                </a:lnTo>
                <a:lnTo>
                  <a:pt x="0" y="620584"/>
                </a:lnTo>
                <a:lnTo>
                  <a:pt x="0" y="0"/>
                </a:lnTo>
                <a:close/>
              </a:path>
            </a:pathLst>
          </a:custGeom>
          <a:blipFill>
            <a:blip r:embed="rId1"/>
            <a:stretch>
              <a:fillRect/>
            </a:stretch>
          </a:blipFill>
        </p:spPr>
      </p:sp>
      <p:grpSp>
        <p:nvGrpSpPr>
          <p:cNvPr id="6" name="Group 6"/>
          <p:cNvGrpSpPr/>
          <p:nvPr/>
        </p:nvGrpSpPr>
        <p:grpSpPr>
          <a:xfrm rot="0">
            <a:off x="5459316" y="1438329"/>
            <a:ext cx="2920486" cy="2916826"/>
            <a:chOff x="0" y="0"/>
            <a:chExt cx="567580" cy="566868"/>
          </a:xfrm>
        </p:grpSpPr>
        <p:sp>
          <p:nvSpPr>
            <p:cNvPr id="7" name="Freeform 7"/>
            <p:cNvSpPr/>
            <p:nvPr/>
          </p:nvSpPr>
          <p:spPr>
            <a:xfrm>
              <a:off x="0" y="0"/>
              <a:ext cx="567580" cy="566868"/>
            </a:xfrm>
            <a:custGeom>
              <a:avLst/>
              <a:gdLst/>
              <a:ahLst/>
              <a:cxnLst/>
              <a:rect l="l" t="t" r="r" b="b"/>
              <a:pathLst>
                <a:path w="567580" h="566868">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8" name="TextBox 8"/>
            <p:cNvSpPr txBox="1"/>
            <p:nvPr/>
          </p:nvSpPr>
          <p:spPr>
            <a:xfrm>
              <a:off x="0" y="28575"/>
              <a:ext cx="567580" cy="538293"/>
            </a:xfrm>
            <a:prstGeom prst="rect">
              <a:avLst/>
            </a:prstGeom>
          </p:spPr>
          <p:txBody>
            <a:bodyPr lIns="65745" tIns="65745" rIns="65745" bIns="65745" rtlCol="0" anchor="ctr"/>
            <a:lstStyle/>
            <a:p>
              <a:pPr marL="0" lvl="0" indent="0" algn="ctr">
                <a:lnSpc>
                  <a:spcPts val="2460"/>
                </a:lnSpc>
              </a:pPr>
            </a:p>
          </p:txBody>
        </p:sp>
      </p:grpSp>
      <p:sp>
        <p:nvSpPr>
          <p:cNvPr id="9" name="TextBox 9"/>
          <p:cNvSpPr txBox="1"/>
          <p:nvPr/>
        </p:nvSpPr>
        <p:spPr>
          <a:xfrm>
            <a:off x="5708475" y="2199673"/>
            <a:ext cx="2459408" cy="807581"/>
          </a:xfrm>
          <a:prstGeom prst="rect">
            <a:avLst/>
          </a:prstGeom>
        </p:spPr>
        <p:txBody>
          <a:bodyPr lIns="0" tIns="0" rIns="0" bIns="0" rtlCol="0" anchor="t">
            <a:spAutoFit/>
          </a:bodyPr>
          <a:lstStyle/>
          <a:p>
            <a:pPr marL="0" lvl="0" indent="0" algn="ctr">
              <a:lnSpc>
                <a:spcPts val="6025"/>
              </a:lnSpc>
            </a:pPr>
            <a:r>
              <a:rPr lang="en-US" sz="6085" b="1" spc="-182">
                <a:solidFill>
                  <a:srgbClr val="FFFFFF"/>
                </a:solidFill>
                <a:latin typeface="Bricolage Grotesque Bold" panose="020B0605040402000204"/>
                <a:ea typeface="Bricolage Grotesque Bold" panose="020B0605040402000204"/>
                <a:cs typeface="Bricolage Grotesque Bold" panose="020B0605040402000204"/>
                <a:sym typeface="Bricolage Grotesque Bold" panose="020B0605040402000204"/>
              </a:rPr>
              <a:t>2x</a:t>
            </a:r>
            <a:endParaRPr lang="en-US" sz="6085" b="1" spc="-182">
              <a:solidFill>
                <a:srgbClr val="FFFFFF"/>
              </a:soli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
        <p:nvSpPr>
          <p:cNvPr id="10" name="TextBox 10"/>
          <p:cNvSpPr txBox="1"/>
          <p:nvPr/>
        </p:nvSpPr>
        <p:spPr>
          <a:xfrm>
            <a:off x="5940959" y="3084385"/>
            <a:ext cx="1957200" cy="623726"/>
          </a:xfrm>
          <a:prstGeom prst="rect">
            <a:avLst/>
          </a:prstGeom>
        </p:spPr>
        <p:txBody>
          <a:bodyPr lIns="0" tIns="0" rIns="0" bIns="0" rtlCol="0" anchor="t">
            <a:spAutoFit/>
          </a:bodyPr>
          <a:lstStyle/>
          <a:p>
            <a:pPr marL="0" lvl="0" indent="0" algn="ctr">
              <a:lnSpc>
                <a:spcPts val="2445"/>
              </a:lnSpc>
            </a:pPr>
            <a:r>
              <a:rPr lang="en-US" sz="1745" spc="-43">
                <a:solidFill>
                  <a:srgbClr val="FFFFFF"/>
                </a:solidFill>
                <a:latin typeface="Poppins" panose="00000500000000000000"/>
                <a:ea typeface="Poppins" panose="00000500000000000000"/>
                <a:cs typeface="Poppins" panose="00000500000000000000"/>
                <a:sym typeface="Poppins" panose="00000500000000000000"/>
              </a:rPr>
              <a:t>FORECAST ACCURACY BOOST</a:t>
            </a:r>
            <a:endParaRPr lang="en-US" sz="1745" spc="-43">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1" name="Freeform 11"/>
          <p:cNvSpPr/>
          <p:nvPr/>
        </p:nvSpPr>
        <p:spPr>
          <a:xfrm>
            <a:off x="939864" y="4136359"/>
            <a:ext cx="1048918" cy="803961"/>
          </a:xfrm>
          <a:custGeom>
            <a:avLst/>
            <a:gdLst/>
            <a:ahLst/>
            <a:cxnLst/>
            <a:rect l="l" t="t" r="r" b="b"/>
            <a:pathLst>
              <a:path w="1048918" h="803961">
                <a:moveTo>
                  <a:pt x="0" y="0"/>
                </a:moveTo>
                <a:lnTo>
                  <a:pt x="1048918" y="0"/>
                </a:lnTo>
                <a:lnTo>
                  <a:pt x="1048918" y="803961"/>
                </a:lnTo>
                <a:lnTo>
                  <a:pt x="0" y="803961"/>
                </a:lnTo>
                <a:lnTo>
                  <a:pt x="0" y="0"/>
                </a:lnTo>
                <a:close/>
              </a:path>
            </a:pathLst>
          </a:custGeom>
          <a:blipFill>
            <a:blip r:embed="rId2"/>
            <a:stretch>
              <a:fillRect/>
            </a:stretch>
          </a:blipFill>
        </p:spPr>
      </p:sp>
      <p:sp>
        <p:nvSpPr>
          <p:cNvPr id="12" name="TextBox 12"/>
          <p:cNvSpPr txBox="1"/>
          <p:nvPr/>
        </p:nvSpPr>
        <p:spPr>
          <a:xfrm>
            <a:off x="1028700" y="5564328"/>
            <a:ext cx="4378886" cy="451861"/>
          </a:xfrm>
          <a:prstGeom prst="rect">
            <a:avLst/>
          </a:prstGeom>
        </p:spPr>
        <p:txBody>
          <a:bodyPr lIns="0" tIns="0" rIns="0" bIns="0" rtlCol="0" anchor="t">
            <a:spAutoFit/>
          </a:bodyPr>
          <a:lstStyle/>
          <a:p>
            <a:pPr marL="0" lvl="0" indent="0" algn="l">
              <a:lnSpc>
                <a:spcPts val="3945"/>
              </a:lnSpc>
            </a:pPr>
            <a:r>
              <a:rPr lang="en-US" sz="1825" b="1">
                <a:solidFill>
                  <a:srgbClr val="FFFFFF"/>
                </a:solidFill>
                <a:latin typeface="Poppins Bold" panose="00000800000000000000"/>
                <a:ea typeface="Poppins Bold" panose="00000800000000000000"/>
                <a:cs typeface="Poppins Bold" panose="00000800000000000000"/>
                <a:sym typeface="Poppins Bold" panose="00000800000000000000"/>
              </a:rPr>
              <a:t>PROPHET MODEL</a:t>
            </a:r>
            <a:endParaRPr lang="en-US" sz="182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3" name="TextBox 13"/>
          <p:cNvSpPr txBox="1"/>
          <p:nvPr/>
        </p:nvSpPr>
        <p:spPr>
          <a:xfrm>
            <a:off x="1028700" y="6159556"/>
            <a:ext cx="4378886" cy="482604"/>
          </a:xfrm>
          <a:prstGeom prst="rect">
            <a:avLst/>
          </a:prstGeom>
        </p:spPr>
        <p:txBody>
          <a:bodyPr lIns="0" tIns="0" rIns="0" bIns="0" rtlCol="0" anchor="t">
            <a:spAutoFit/>
          </a:bodyPr>
          <a:lstStyle/>
          <a:p>
            <a:pPr marL="0" lvl="0" indent="0" algn="just">
              <a:lnSpc>
                <a:spcPts val="1895"/>
              </a:lnSpc>
            </a:pPr>
            <a:r>
              <a:rPr lang="en-US" sz="1555">
                <a:solidFill>
                  <a:srgbClr val="FFFFFF"/>
                </a:solidFill>
                <a:latin typeface="Poppins" panose="00000500000000000000"/>
                <a:ea typeface="Poppins" panose="00000500000000000000"/>
                <a:cs typeface="Poppins" panose="00000500000000000000"/>
                <a:sym typeface="Poppins" panose="00000500000000000000"/>
              </a:rPr>
              <a:t>Trend and seasonality decomposition for time-series forecasting.</a:t>
            </a:r>
            <a:endParaRPr lang="en-US" sz="1555">
              <a:solidFill>
                <a:srgbClr val="FFFFFF"/>
              </a:solidFill>
              <a:latin typeface="Poppins" panose="00000500000000000000"/>
              <a:ea typeface="Poppins" panose="00000500000000000000"/>
              <a:cs typeface="Poppins" panose="00000500000000000000"/>
              <a:sym typeface="Poppins" panose="00000500000000000000"/>
            </a:endParaRPr>
          </a:p>
        </p:txBody>
      </p:sp>
      <p:grpSp>
        <p:nvGrpSpPr>
          <p:cNvPr id="14" name="Group 14"/>
          <p:cNvGrpSpPr/>
          <p:nvPr/>
        </p:nvGrpSpPr>
        <p:grpSpPr>
          <a:xfrm rot="0">
            <a:off x="1028700" y="7133446"/>
            <a:ext cx="4378886" cy="815264"/>
            <a:chOff x="0" y="0"/>
            <a:chExt cx="5838515" cy="1087018"/>
          </a:xfrm>
        </p:grpSpPr>
        <p:sp>
          <p:nvSpPr>
            <p:cNvPr id="15" name="TextBox 15"/>
            <p:cNvSpPr txBox="1"/>
            <p:nvPr/>
          </p:nvSpPr>
          <p:spPr>
            <a:xfrm>
              <a:off x="0" y="-180975"/>
              <a:ext cx="5838515" cy="542156"/>
            </a:xfrm>
            <a:prstGeom prst="rect">
              <a:avLst/>
            </a:prstGeom>
          </p:spPr>
          <p:txBody>
            <a:bodyPr lIns="0" tIns="0" rIns="0" bIns="0" rtlCol="0" anchor="t">
              <a:spAutoFit/>
            </a:bodyPr>
            <a:lstStyle/>
            <a:p>
              <a:pPr marL="0" lvl="0" indent="0" algn="l">
                <a:lnSpc>
                  <a:spcPts val="3945"/>
                </a:lnSpc>
              </a:pPr>
              <a:r>
                <a:rPr lang="en-US" sz="1825" b="1">
                  <a:solidFill>
                    <a:srgbClr val="FFFFFF"/>
                  </a:solidFill>
                  <a:latin typeface="Poppins Bold" panose="00000800000000000000"/>
                  <a:ea typeface="Poppins Bold" panose="00000800000000000000"/>
                  <a:cs typeface="Poppins Bold" panose="00000800000000000000"/>
                  <a:sym typeface="Poppins Bold" panose="00000800000000000000"/>
                </a:rPr>
                <a:t>ARIMA MODEL</a:t>
              </a:r>
              <a:endParaRPr lang="en-US" sz="182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6" name="TextBox 16"/>
            <p:cNvSpPr txBox="1"/>
            <p:nvPr/>
          </p:nvSpPr>
          <p:spPr>
            <a:xfrm>
              <a:off x="0" y="446722"/>
              <a:ext cx="5838515" cy="640296"/>
            </a:xfrm>
            <a:prstGeom prst="rect">
              <a:avLst/>
            </a:prstGeom>
          </p:spPr>
          <p:txBody>
            <a:bodyPr lIns="0" tIns="0" rIns="0" bIns="0" rtlCol="0" anchor="t">
              <a:spAutoFit/>
            </a:bodyPr>
            <a:lstStyle/>
            <a:p>
              <a:pPr marL="0" lvl="0" indent="0" algn="just">
                <a:lnSpc>
                  <a:spcPts val="1895"/>
                </a:lnSpc>
              </a:pPr>
              <a:r>
                <a:rPr lang="en-US" sz="1555">
                  <a:solidFill>
                    <a:srgbClr val="FFFFFF"/>
                  </a:solidFill>
                  <a:latin typeface="Poppins" panose="00000500000000000000"/>
                  <a:ea typeface="Poppins" panose="00000500000000000000"/>
                  <a:cs typeface="Poppins" panose="00000500000000000000"/>
                  <a:sym typeface="Poppins" panose="00000500000000000000"/>
                </a:rPr>
                <a:t>Statistical modeling of autocorrelated time-series data patterns.</a:t>
              </a:r>
              <a:endParaRPr lang="en-US" sz="1555">
                <a:solidFill>
                  <a:srgbClr val="FFFFFF"/>
                </a:solidFill>
                <a:latin typeface="Poppins" panose="00000500000000000000"/>
                <a:ea typeface="Poppins" panose="00000500000000000000"/>
                <a:cs typeface="Poppins" panose="00000500000000000000"/>
                <a:sym typeface="Poppins" panose="00000500000000000000"/>
              </a:endParaRPr>
            </a:p>
          </p:txBody>
        </p:sp>
      </p:grpSp>
      <p:grpSp>
        <p:nvGrpSpPr>
          <p:cNvPr id="17" name="Group 17"/>
          <p:cNvGrpSpPr/>
          <p:nvPr/>
        </p:nvGrpSpPr>
        <p:grpSpPr>
          <a:xfrm rot="0">
            <a:off x="1028700" y="8443036"/>
            <a:ext cx="4378886" cy="815264"/>
            <a:chOff x="0" y="0"/>
            <a:chExt cx="5838515" cy="1087018"/>
          </a:xfrm>
        </p:grpSpPr>
        <p:sp>
          <p:nvSpPr>
            <p:cNvPr id="18" name="TextBox 18"/>
            <p:cNvSpPr txBox="1"/>
            <p:nvPr/>
          </p:nvSpPr>
          <p:spPr>
            <a:xfrm>
              <a:off x="0" y="-180975"/>
              <a:ext cx="5838515" cy="542156"/>
            </a:xfrm>
            <a:prstGeom prst="rect">
              <a:avLst/>
            </a:prstGeom>
          </p:spPr>
          <p:txBody>
            <a:bodyPr lIns="0" tIns="0" rIns="0" bIns="0" rtlCol="0" anchor="t">
              <a:spAutoFit/>
            </a:bodyPr>
            <a:lstStyle/>
            <a:p>
              <a:pPr marL="0" lvl="0" indent="0" algn="l">
                <a:lnSpc>
                  <a:spcPts val="3945"/>
                </a:lnSpc>
              </a:pPr>
              <a:r>
                <a:rPr lang="en-US" sz="1825" b="1">
                  <a:solidFill>
                    <a:srgbClr val="FFFFFF"/>
                  </a:solidFill>
                  <a:latin typeface="Poppins Bold" panose="00000800000000000000"/>
                  <a:ea typeface="Poppins Bold" panose="00000800000000000000"/>
                  <a:cs typeface="Poppins Bold" panose="00000800000000000000"/>
                  <a:sym typeface="Poppins Bold" panose="00000800000000000000"/>
                </a:rPr>
                <a:t>COMBINED APPROACH</a:t>
              </a:r>
              <a:endParaRPr lang="en-US" sz="1825"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9" name="TextBox 19"/>
            <p:cNvSpPr txBox="1"/>
            <p:nvPr/>
          </p:nvSpPr>
          <p:spPr>
            <a:xfrm>
              <a:off x="0" y="446722"/>
              <a:ext cx="5838515" cy="640296"/>
            </a:xfrm>
            <a:prstGeom prst="rect">
              <a:avLst/>
            </a:prstGeom>
          </p:spPr>
          <p:txBody>
            <a:bodyPr lIns="0" tIns="0" rIns="0" bIns="0" rtlCol="0" anchor="t">
              <a:spAutoFit/>
            </a:bodyPr>
            <a:lstStyle/>
            <a:p>
              <a:pPr marL="0" lvl="0" indent="0" algn="just">
                <a:lnSpc>
                  <a:spcPts val="1895"/>
                </a:lnSpc>
              </a:pPr>
              <a:r>
                <a:rPr lang="en-US" sz="1555">
                  <a:solidFill>
                    <a:srgbClr val="FFFFFF"/>
                  </a:solidFill>
                  <a:latin typeface="Poppins" panose="00000500000000000000"/>
                  <a:ea typeface="Poppins" panose="00000500000000000000"/>
                  <a:cs typeface="Poppins" panose="00000500000000000000"/>
                  <a:sym typeface="Poppins" panose="00000500000000000000"/>
                </a:rPr>
                <a:t>Ensemble of both models for robust and reliable predictions.</a:t>
              </a:r>
              <a:endParaRPr lang="en-US" sz="1555">
                <a:solidFill>
                  <a:srgbClr val="FFFFFF"/>
                </a:solidFill>
                <a:latin typeface="Poppins" panose="00000500000000000000"/>
                <a:ea typeface="Poppins" panose="00000500000000000000"/>
                <a:cs typeface="Poppins" panose="00000500000000000000"/>
                <a:sym typeface="Poppins" panose="00000500000000000000"/>
              </a:endParaRPr>
            </a:p>
          </p:txBody>
        </p:sp>
      </p:grpSp>
      <p:grpSp>
        <p:nvGrpSpPr>
          <p:cNvPr id="20" name="Group 20"/>
          <p:cNvGrpSpPr/>
          <p:nvPr/>
        </p:nvGrpSpPr>
        <p:grpSpPr>
          <a:xfrm rot="0">
            <a:off x="9345491" y="1408669"/>
            <a:ext cx="7522404" cy="7518633"/>
            <a:chOff x="0" y="0"/>
            <a:chExt cx="10029872" cy="10024844"/>
          </a:xfrm>
        </p:grpSpPr>
        <p:sp>
          <p:nvSpPr>
            <p:cNvPr id="21" name="TextBox 21"/>
            <p:cNvSpPr txBox="1"/>
            <p:nvPr/>
          </p:nvSpPr>
          <p:spPr>
            <a:xfrm>
              <a:off x="1033544" y="-57150"/>
              <a:ext cx="7126880" cy="448471"/>
            </a:xfrm>
            <a:prstGeom prst="rect">
              <a:avLst/>
            </a:prstGeom>
          </p:spPr>
          <p:txBody>
            <a:bodyPr lIns="0" tIns="0" rIns="0" bIns="0" rtlCol="0" anchor="t">
              <a:spAutoFit/>
            </a:bodyPr>
            <a:lstStyle/>
            <a:p>
              <a:pPr marL="0" lvl="0" indent="0" algn="just">
                <a:lnSpc>
                  <a:spcPts val="2725"/>
                </a:lnSpc>
              </a:pPr>
              <a:r>
                <a:rPr lang="en-US" sz="1945" b="1" spc="-48">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PROPHET MODEL</a:t>
              </a:r>
              <a:endParaRPr lang="en-US" sz="1945" b="1" spc="-48">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22" name="TextBox 22"/>
            <p:cNvSpPr txBox="1"/>
            <p:nvPr/>
          </p:nvSpPr>
          <p:spPr>
            <a:xfrm>
              <a:off x="1033544" y="857218"/>
              <a:ext cx="8996329" cy="2083057"/>
            </a:xfrm>
            <a:prstGeom prst="rect">
              <a:avLst/>
            </a:prstGeom>
          </p:spPr>
          <p:txBody>
            <a:bodyPr lIns="0" tIns="0" rIns="0" bIns="0" rtlCol="0" anchor="t">
              <a:spAutoFit/>
            </a:bodyPr>
            <a:lstStyle/>
            <a:p>
              <a:pPr marL="0" lvl="0" indent="0" algn="just">
                <a:lnSpc>
                  <a:spcPts val="2485"/>
                </a:lnSpc>
              </a:pPr>
              <a:r>
                <a:rPr lang="en-US" sz="1775" spc="-44">
                  <a:solidFill>
                    <a:srgbClr val="3A58E4"/>
                  </a:solidFill>
                  <a:latin typeface="Poppins" panose="00000500000000000000"/>
                  <a:ea typeface="Poppins" panose="00000500000000000000"/>
                  <a:cs typeface="Poppins" panose="00000500000000000000"/>
                  <a:sym typeface="Poppins" panose="00000500000000000000"/>
                </a:rPr>
                <a:t>Prophet, developed by Meta, decomposes time-series data into trend, seasonality, and holiday components. It handles missing data and outliers gracefully. In AI Capacity Forecaster, Prophet captures weekly and monthly usage cycles to predict CPU, memory, and storage demand with high interpretability.</a:t>
              </a:r>
              <a:endParaRPr lang="en-US" sz="1775" spc="-44">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23" name="TextBox 23"/>
            <p:cNvSpPr txBox="1"/>
            <p:nvPr/>
          </p:nvSpPr>
          <p:spPr>
            <a:xfrm>
              <a:off x="1033544" y="3485135"/>
              <a:ext cx="7126880" cy="448471"/>
            </a:xfrm>
            <a:prstGeom prst="rect">
              <a:avLst/>
            </a:prstGeom>
          </p:spPr>
          <p:txBody>
            <a:bodyPr lIns="0" tIns="0" rIns="0" bIns="0" rtlCol="0" anchor="t">
              <a:spAutoFit/>
            </a:bodyPr>
            <a:lstStyle/>
            <a:p>
              <a:pPr marL="0" lvl="0" indent="0" algn="just">
                <a:lnSpc>
                  <a:spcPts val="2725"/>
                </a:lnSpc>
              </a:pPr>
              <a:r>
                <a:rPr lang="en-US" sz="1945" b="1" spc="-48">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ARIMA MODEL</a:t>
              </a:r>
              <a:endParaRPr lang="en-US" sz="1945" b="1" spc="-48">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24" name="TextBox 24"/>
            <p:cNvSpPr txBox="1"/>
            <p:nvPr/>
          </p:nvSpPr>
          <p:spPr>
            <a:xfrm>
              <a:off x="1033544" y="3980403"/>
              <a:ext cx="8996329" cy="2502157"/>
            </a:xfrm>
            <a:prstGeom prst="rect">
              <a:avLst/>
            </a:prstGeom>
          </p:spPr>
          <p:txBody>
            <a:bodyPr lIns="0" tIns="0" rIns="0" bIns="0" rtlCol="0" anchor="t">
              <a:spAutoFit/>
            </a:bodyPr>
            <a:lstStyle/>
            <a:p>
              <a:pPr marL="0" lvl="0" indent="0" algn="just">
                <a:lnSpc>
                  <a:spcPts val="2485"/>
                </a:lnSpc>
              </a:pPr>
              <a:r>
                <a:rPr lang="en-US" sz="1775" spc="-44">
                  <a:solidFill>
                    <a:srgbClr val="3A58E4"/>
                  </a:solidFill>
                  <a:latin typeface="Poppins" panose="00000500000000000000"/>
                  <a:ea typeface="Poppins" panose="00000500000000000000"/>
                  <a:cs typeface="Poppins" panose="00000500000000000000"/>
                  <a:sym typeface="Poppins" panose="00000500000000000000"/>
                </a:rPr>
                <a:t>ARIMA (AutoRegressive Integrated Moving Average) models stationary time-series data using past values and error terms. It excels at short-term forecasting with autocorrelated patterns. The system auto-selects optimal (p,d,q) parameters to accurately model infrastructure resource consumption trends.</a:t>
              </a:r>
              <a:endParaRPr lang="en-US" sz="1775" spc="-44">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25" name="TextBox 25"/>
            <p:cNvSpPr txBox="1"/>
            <p:nvPr/>
          </p:nvSpPr>
          <p:spPr>
            <a:xfrm>
              <a:off x="1033544" y="7027419"/>
              <a:ext cx="7126880" cy="448471"/>
            </a:xfrm>
            <a:prstGeom prst="rect">
              <a:avLst/>
            </a:prstGeom>
          </p:spPr>
          <p:txBody>
            <a:bodyPr lIns="0" tIns="0" rIns="0" bIns="0" rtlCol="0" anchor="t">
              <a:spAutoFit/>
            </a:bodyPr>
            <a:lstStyle/>
            <a:p>
              <a:pPr marL="0" lvl="0" indent="0" algn="just">
                <a:lnSpc>
                  <a:spcPts val="2725"/>
                </a:lnSpc>
              </a:pPr>
              <a:r>
                <a:rPr lang="en-US" sz="1945" b="1" spc="-48">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ANALYTICAL APPROACH</a:t>
              </a:r>
              <a:endParaRPr lang="en-US" sz="1945" b="1" spc="-48">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26" name="TextBox 26"/>
            <p:cNvSpPr txBox="1"/>
            <p:nvPr/>
          </p:nvSpPr>
          <p:spPr>
            <a:xfrm>
              <a:off x="1033544" y="7522687"/>
              <a:ext cx="8996329" cy="2502157"/>
            </a:xfrm>
            <a:prstGeom prst="rect">
              <a:avLst/>
            </a:prstGeom>
          </p:spPr>
          <p:txBody>
            <a:bodyPr lIns="0" tIns="0" rIns="0" bIns="0" rtlCol="0" anchor="t">
              <a:spAutoFit/>
            </a:bodyPr>
            <a:lstStyle/>
            <a:p>
              <a:pPr marL="0" lvl="0" indent="0" algn="just">
                <a:lnSpc>
                  <a:spcPts val="2485"/>
                </a:lnSpc>
              </a:pPr>
              <a:r>
                <a:rPr lang="en-US" sz="1775" spc="-44">
                  <a:solidFill>
                    <a:srgbClr val="3A58E4"/>
                  </a:solidFill>
                  <a:latin typeface="Poppins" panose="00000500000000000000"/>
                  <a:ea typeface="Poppins" panose="00000500000000000000"/>
                  <a:cs typeface="Poppins" panose="00000500000000000000"/>
                  <a:sym typeface="Poppins" panose="00000500000000000000"/>
                </a:rPr>
                <a:t>Both models run in parallel on uploaded CSV data. Forecast outputs are compared and combined using a weighted ensemble strategy. This dual-model approach ensures robustness across varying data patterns, reducing prediction error and improving breach detection accuracy for infrastructure planning.</a:t>
              </a:r>
              <a:endParaRPr lang="en-US" sz="1775" spc="-44">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27" name="TextBox 27"/>
            <p:cNvSpPr txBox="1"/>
            <p:nvPr/>
          </p:nvSpPr>
          <p:spPr>
            <a:xfrm>
              <a:off x="0" y="1290055"/>
              <a:ext cx="643052" cy="332925"/>
            </a:xfrm>
            <a:prstGeom prst="rect">
              <a:avLst/>
            </a:prstGeom>
          </p:spPr>
          <p:txBody>
            <a:bodyPr lIns="0" tIns="0" rIns="0" bIns="0" rtlCol="0" anchor="t">
              <a:spAutoFit/>
            </a:bodyPr>
            <a:lstStyle/>
            <a:p>
              <a:pPr marL="0" lvl="0" indent="0" algn="l">
                <a:lnSpc>
                  <a:spcPts val="1845"/>
                </a:lnSpc>
              </a:pPr>
              <a:r>
                <a:rPr lang="en-US" sz="1860" spc="-55">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rPr>
                <a:t>01</a:t>
              </a:r>
              <a:endParaRPr lang="en-US" sz="1860" spc="-55">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28" name="TextBox 28"/>
            <p:cNvSpPr txBox="1"/>
            <p:nvPr/>
          </p:nvSpPr>
          <p:spPr>
            <a:xfrm>
              <a:off x="0" y="4832339"/>
              <a:ext cx="643052" cy="332925"/>
            </a:xfrm>
            <a:prstGeom prst="rect">
              <a:avLst/>
            </a:prstGeom>
          </p:spPr>
          <p:txBody>
            <a:bodyPr lIns="0" tIns="0" rIns="0" bIns="0" rtlCol="0" anchor="t">
              <a:spAutoFit/>
            </a:bodyPr>
            <a:lstStyle/>
            <a:p>
              <a:pPr marL="0" lvl="0" indent="0" algn="l">
                <a:lnSpc>
                  <a:spcPts val="1845"/>
                </a:lnSpc>
              </a:pPr>
              <a:r>
                <a:rPr lang="en-US" sz="1860" spc="-55">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rPr>
                <a:t>02</a:t>
              </a:r>
              <a:endParaRPr lang="en-US" sz="1860" spc="-55">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29" name="TextBox 29"/>
            <p:cNvSpPr txBox="1"/>
            <p:nvPr/>
          </p:nvSpPr>
          <p:spPr>
            <a:xfrm>
              <a:off x="0" y="8374624"/>
              <a:ext cx="643052" cy="332925"/>
            </a:xfrm>
            <a:prstGeom prst="rect">
              <a:avLst/>
            </a:prstGeom>
          </p:spPr>
          <p:txBody>
            <a:bodyPr lIns="0" tIns="0" rIns="0" bIns="0" rtlCol="0" anchor="t">
              <a:spAutoFit/>
            </a:bodyPr>
            <a:lstStyle/>
            <a:p>
              <a:pPr marL="0" lvl="0" indent="0" algn="l">
                <a:lnSpc>
                  <a:spcPts val="1845"/>
                </a:lnSpc>
              </a:pPr>
              <a:r>
                <a:rPr lang="en-US" sz="1860" spc="-55">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rPr>
                <a:t>03</a:t>
              </a:r>
              <a:endParaRPr lang="en-US" sz="1860" spc="-55">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30" name="Group 30"/>
          <p:cNvGrpSpPr/>
          <p:nvPr/>
        </p:nvGrpSpPr>
        <p:grpSpPr>
          <a:xfrm rot="0">
            <a:off x="1028700" y="1196251"/>
            <a:ext cx="24226" cy="1038034"/>
            <a:chOff x="0" y="0"/>
            <a:chExt cx="12543" cy="537460"/>
          </a:xfrm>
        </p:grpSpPr>
        <p:sp>
          <p:nvSpPr>
            <p:cNvPr id="31" name="Freeform 31"/>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FFFFFF"/>
            </a:solidFill>
          </p:spPr>
        </p:sp>
        <p:sp>
          <p:nvSpPr>
            <p:cNvPr id="32" name="TextBox 32"/>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33" name="TextBox 33"/>
          <p:cNvSpPr txBox="1"/>
          <p:nvPr/>
        </p:nvSpPr>
        <p:spPr>
          <a:xfrm>
            <a:off x="1144711" y="1252656"/>
            <a:ext cx="2753109" cy="1149179"/>
          </a:xfrm>
          <a:prstGeom prst="rect">
            <a:avLst/>
          </a:prstGeom>
        </p:spPr>
        <p:txBody>
          <a:bodyPr lIns="0" tIns="0" rIns="0" bIns="0" rtlCol="0" anchor="t">
            <a:spAutoFit/>
          </a:bodyPr>
          <a:lstStyle/>
          <a:p>
            <a:pPr marL="0" lvl="0" indent="0" algn="l">
              <a:lnSpc>
                <a:spcPts val="4400"/>
              </a:lnSpc>
            </a:pPr>
            <a:r>
              <a:rPr lang="en-US" sz="4490" spc="-28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Forecasting Models</a:t>
            </a:r>
            <a:endParaRPr lang="en-US" sz="4490" spc="-28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37310" y="574040"/>
            <a:ext cx="8146415" cy="8033385"/>
          </a:xfrm>
          <a:prstGeom prst="rect">
            <a:avLst/>
          </a:prstGeom>
          <a:noFill/>
        </p:spPr>
        <p:txBody>
          <a:bodyPr wrap="square" rtlCol="0">
            <a:noAutofit/>
          </a:bodyPr>
          <a:p>
            <a:r>
              <a:rPr lang="en-IN" altLang="en-US"/>
              <a:t>   </a:t>
            </a:r>
            <a:r>
              <a:rPr lang="en-US" altLang="en-US" sz="4400" b="1">
                <a:solidFill>
                  <a:schemeClr val="accent1">
                    <a:lumMod val="75000"/>
                  </a:schemeClr>
                </a:solidFill>
              </a:rPr>
              <a:t>Features</a:t>
            </a:r>
            <a:endParaRPr lang="en-US" altLang="en-US"/>
          </a:p>
          <a:p>
            <a:r>
              <a:rPr lang="zh-CN" altLang="en-US" sz="2800" b="1">
                <a:solidFill>
                  <a:schemeClr val="accent1">
                    <a:lumMod val="75000"/>
                  </a:schemeClr>
                </a:solidFill>
              </a:rPr>
              <a:t>🗣️ </a:t>
            </a:r>
            <a:r>
              <a:rPr lang="en-US" altLang="en-US" sz="2800" b="1">
                <a:solidFill>
                  <a:schemeClr val="accent1">
                    <a:lumMod val="75000"/>
                  </a:schemeClr>
                </a:solidFill>
              </a:rPr>
              <a:t>Natural Language Query</a:t>
            </a:r>
            <a:endParaRPr lang="en-US" altLang="en-US" sz="2800" b="1">
              <a:solidFill>
                <a:schemeClr val="accent1">
                  <a:lumMod val="75000"/>
                </a:schemeClr>
              </a:solidFill>
            </a:endParaRPr>
          </a:p>
          <a:p>
            <a:endParaRPr lang="en-US" altLang="en-US"/>
          </a:p>
          <a:p>
            <a:r>
              <a:rPr lang="en-US" altLang="en-US" sz="2400">
                <a:solidFill>
                  <a:schemeClr val="tx2">
                    <a:lumMod val="60000"/>
                    <a:lumOff val="40000"/>
                  </a:schemeClr>
                </a:solidFill>
              </a:rPr>
              <a:t>Users can interact with the system using simple English and instantly receive forecasting insights.</a:t>
            </a:r>
            <a:endParaRPr lang="en-US" altLang="en-US" sz="2400">
              <a:solidFill>
                <a:schemeClr val="tx2">
                  <a:lumMod val="60000"/>
                  <a:lumOff val="40000"/>
                </a:schemeClr>
              </a:solidFill>
            </a:endParaRPr>
          </a:p>
          <a:p>
            <a:endParaRPr lang="en-US" altLang="en-US" sz="2400">
              <a:solidFill>
                <a:schemeClr val="tx2">
                  <a:lumMod val="60000"/>
                  <a:lumOff val="40000"/>
                </a:schemeClr>
              </a:solidFill>
            </a:endParaRPr>
          </a:p>
          <a:p>
            <a:r>
              <a:rPr lang="en-US" altLang="en-US" sz="2400">
                <a:solidFill>
                  <a:schemeClr val="tx2">
                    <a:lumMod val="60000"/>
                    <a:lumOff val="40000"/>
                  </a:schemeClr>
                </a:solidFill>
              </a:rPr>
              <a:t>Examples:</a:t>
            </a:r>
            <a:endParaRPr lang="en-US" altLang="en-US" sz="2400">
              <a:solidFill>
                <a:schemeClr val="tx2">
                  <a:lumMod val="60000"/>
                  <a:lumOff val="40000"/>
                </a:schemeClr>
              </a:solidFill>
            </a:endParaRPr>
          </a:p>
          <a:p>
            <a:r>
              <a:rPr lang="en-US" altLang="en-US" sz="2400">
                <a:solidFill>
                  <a:schemeClr val="tx2">
                    <a:lumMod val="60000"/>
                    <a:lumOff val="40000"/>
                  </a:schemeClr>
                </a:solidFill>
              </a:rPr>
              <a:t>• When will CPU usage exceed 80%?</a:t>
            </a:r>
            <a:endParaRPr lang="en-US" altLang="en-US" sz="2400">
              <a:solidFill>
                <a:schemeClr val="tx2">
                  <a:lumMod val="60000"/>
                  <a:lumOff val="40000"/>
                </a:schemeClr>
              </a:solidFill>
            </a:endParaRPr>
          </a:p>
          <a:p>
            <a:r>
              <a:rPr lang="en-US" altLang="en-US" sz="2400">
                <a:solidFill>
                  <a:schemeClr val="tx2">
                    <a:lumMod val="60000"/>
                    <a:lumOff val="40000"/>
                  </a:schemeClr>
                </a:solidFill>
              </a:rPr>
              <a:t>• Show memory forecast for the next 7 days.</a:t>
            </a:r>
            <a:endParaRPr lang="en-US" altLang="en-US" sz="2400">
              <a:solidFill>
                <a:schemeClr val="tx2">
                  <a:lumMod val="60000"/>
                  <a:lumOff val="40000"/>
                </a:schemeClr>
              </a:solidFill>
            </a:endParaRPr>
          </a:p>
          <a:p>
            <a:endParaRPr lang="en-US" altLang="en-US"/>
          </a:p>
          <a:p>
            <a:r>
              <a:rPr lang="zh-CN" altLang="en-US" sz="2800" b="1">
                <a:solidFill>
                  <a:schemeClr val="accent1">
                    <a:lumMod val="75000"/>
                  </a:schemeClr>
                </a:solidFill>
              </a:rPr>
              <a:t>🔍 </a:t>
            </a:r>
            <a:r>
              <a:rPr lang="en-US" altLang="en-US" sz="2800" b="1">
                <a:solidFill>
                  <a:schemeClr val="accent1">
                    <a:lumMod val="75000"/>
                  </a:schemeClr>
                </a:solidFill>
              </a:rPr>
              <a:t>Anomaly Detection</a:t>
            </a:r>
            <a:endParaRPr lang="en-US" altLang="en-US" sz="2800" b="1">
              <a:solidFill>
                <a:schemeClr val="accent1">
                  <a:lumMod val="75000"/>
                </a:schemeClr>
              </a:solidFill>
            </a:endParaRPr>
          </a:p>
          <a:p>
            <a:endParaRPr lang="en-US" altLang="en-US"/>
          </a:p>
          <a:p>
            <a:r>
              <a:rPr lang="en-US" altLang="en-US" sz="2400">
                <a:solidFill>
                  <a:schemeClr val="tx2">
                    <a:lumMod val="60000"/>
                    <a:lumOff val="40000"/>
                  </a:schemeClr>
                </a:solidFill>
              </a:rPr>
              <a:t>Continuously monitors resource utilization and identifies unusual spikes or drops in CPU, Memory, and Storage usage, enabling early issue detection and proactive alerts.</a:t>
            </a:r>
            <a:endParaRPr lang="en-US" altLang="en-US" sz="2400">
              <a:solidFill>
                <a:schemeClr val="tx2">
                  <a:lumMod val="60000"/>
                  <a:lumOff val="40000"/>
                </a:schemeClr>
              </a:solidFill>
            </a:endParaRPr>
          </a:p>
          <a:p>
            <a:endParaRPr lang="en-US" altLang="en-US" sz="2000"/>
          </a:p>
          <a:p>
            <a:r>
              <a:rPr lang="en-US" altLang="en-US" sz="2800" b="1">
                <a:solidFill>
                  <a:schemeClr val="accent1">
                    <a:lumMod val="75000"/>
                  </a:schemeClr>
                </a:solidFill>
              </a:rPr>
              <a:t>⚠️ Risk Analysis</a:t>
            </a:r>
            <a:endParaRPr lang="en-US" altLang="en-US" sz="2800" b="1">
              <a:solidFill>
                <a:schemeClr val="accent1">
                  <a:lumMod val="75000"/>
                </a:schemeClr>
              </a:solidFill>
            </a:endParaRPr>
          </a:p>
          <a:p>
            <a:endParaRPr lang="en-US" altLang="en-US"/>
          </a:p>
          <a:p>
            <a:r>
              <a:rPr lang="en-US" altLang="en-US" sz="2400">
                <a:solidFill>
                  <a:schemeClr val="tx2">
                    <a:lumMod val="60000"/>
                    <a:lumOff val="40000"/>
                  </a:schemeClr>
                </a:solidFill>
              </a:rPr>
              <a:t>Forecasted resource usage is categorized into risk levels for better decision-making:</a:t>
            </a:r>
            <a:endParaRPr lang="en-US" altLang="en-US" sz="2400">
              <a:solidFill>
                <a:schemeClr val="tx2">
                  <a:lumMod val="60000"/>
                  <a:lumOff val="40000"/>
                </a:schemeClr>
              </a:solidFill>
            </a:endParaRPr>
          </a:p>
          <a:p>
            <a:endParaRPr lang="en-US" altLang="en-US" sz="2400">
              <a:solidFill>
                <a:schemeClr val="tx2">
                  <a:lumMod val="60000"/>
                  <a:lumOff val="40000"/>
                </a:schemeClr>
              </a:solidFill>
            </a:endParaRPr>
          </a:p>
          <a:p>
            <a:r>
              <a:rPr lang="zh-CN" altLang="en-US" sz="2400">
                <a:solidFill>
                  <a:schemeClr val="tx2">
                    <a:lumMod val="60000"/>
                    <a:lumOff val="40000"/>
                  </a:schemeClr>
                </a:solidFill>
              </a:rPr>
              <a:t>🟢 </a:t>
            </a:r>
            <a:r>
              <a:rPr lang="en-US" altLang="en-US" sz="2400">
                <a:solidFill>
                  <a:schemeClr val="tx2">
                    <a:lumMod val="60000"/>
                    <a:lumOff val="40000"/>
                  </a:schemeClr>
                </a:solidFill>
              </a:rPr>
              <a:t>Low Risk (&lt;60%) – Normal operation</a:t>
            </a:r>
            <a:endParaRPr lang="en-US" altLang="en-US" sz="2400">
              <a:solidFill>
                <a:schemeClr val="tx2">
                  <a:lumMod val="60000"/>
                  <a:lumOff val="40000"/>
                </a:schemeClr>
              </a:solidFill>
            </a:endParaRPr>
          </a:p>
          <a:p>
            <a:r>
              <a:rPr lang="zh-CN" altLang="en-US" sz="2400">
                <a:solidFill>
                  <a:schemeClr val="tx2">
                    <a:lumMod val="60000"/>
                    <a:lumOff val="40000"/>
                  </a:schemeClr>
                </a:solidFill>
              </a:rPr>
              <a:t>🟡 </a:t>
            </a:r>
            <a:r>
              <a:rPr lang="en-US" altLang="en-US" sz="2400">
                <a:solidFill>
                  <a:schemeClr val="tx2">
                    <a:lumMod val="60000"/>
                    <a:lumOff val="40000"/>
                  </a:schemeClr>
                </a:solidFill>
              </a:rPr>
              <a:t>Medium Risk (60–79%) – Monitor closely</a:t>
            </a:r>
            <a:endParaRPr lang="en-US" altLang="en-US" sz="2400">
              <a:solidFill>
                <a:schemeClr val="tx2">
                  <a:lumMod val="60000"/>
                  <a:lumOff val="40000"/>
                </a:schemeClr>
              </a:solidFill>
            </a:endParaRPr>
          </a:p>
          <a:p>
            <a:r>
              <a:rPr lang="zh-CN" altLang="en-US" sz="2400">
                <a:solidFill>
                  <a:schemeClr val="tx2">
                    <a:lumMod val="60000"/>
                    <a:lumOff val="40000"/>
                  </a:schemeClr>
                </a:solidFill>
              </a:rPr>
              <a:t>🟠 </a:t>
            </a:r>
            <a:r>
              <a:rPr lang="en-US" altLang="en-US" sz="2400">
                <a:solidFill>
                  <a:schemeClr val="tx2">
                    <a:lumMod val="60000"/>
                    <a:lumOff val="40000"/>
                  </a:schemeClr>
                </a:solidFill>
              </a:rPr>
              <a:t>High Risk (80–</a:t>
            </a:r>
            <a:r>
              <a:rPr lang="en-IN" altLang="en-US" sz="2400">
                <a:solidFill>
                  <a:schemeClr val="tx2">
                    <a:lumMod val="60000"/>
                    <a:lumOff val="40000"/>
                  </a:schemeClr>
                </a:solidFill>
              </a:rPr>
              <a:t>100</a:t>
            </a:r>
            <a:r>
              <a:rPr lang="en-US" altLang="en-US" sz="2400">
                <a:solidFill>
                  <a:schemeClr val="tx2">
                    <a:lumMod val="60000"/>
                    <a:lumOff val="40000"/>
                  </a:schemeClr>
                </a:solidFill>
              </a:rPr>
              <a:t>%) – Immediate attention requir</a:t>
            </a:r>
            <a:r>
              <a:rPr lang="en-IN" altLang="en-US" sz="2400">
                <a:solidFill>
                  <a:schemeClr val="tx2">
                    <a:lumMod val="60000"/>
                    <a:lumOff val="40000"/>
                  </a:schemeClr>
                </a:solidFill>
              </a:rPr>
              <a:t>ed</a:t>
            </a:r>
            <a:endParaRPr lang="en-IN" altLang="en-US" sz="2400">
              <a:solidFill>
                <a:schemeClr val="tx2">
                  <a:lumMod val="60000"/>
                  <a:lumOff val="40000"/>
                </a:schemeClr>
              </a:solidFill>
            </a:endParaRPr>
          </a:p>
        </p:txBody>
      </p:sp>
      <p:sp>
        <p:nvSpPr>
          <p:cNvPr id="16" name="Freeform 16"/>
          <p:cNvSpPr/>
          <p:nvPr/>
        </p:nvSpPr>
        <p:spPr>
          <a:xfrm>
            <a:off x="10395866" y="1267585"/>
            <a:ext cx="6379204" cy="7697380"/>
          </a:xfrm>
          <a:custGeom>
            <a:avLst/>
            <a:gdLst/>
            <a:ahLst/>
            <a:cxnLst/>
            <a:rect l="l" t="t" r="r" b="b"/>
            <a:pathLst>
              <a:path w="6379204" h="7697380">
                <a:moveTo>
                  <a:pt x="0" y="0"/>
                </a:moveTo>
                <a:lnTo>
                  <a:pt x="6379204" y="0"/>
                </a:lnTo>
                <a:lnTo>
                  <a:pt x="6379204" y="7697380"/>
                </a:lnTo>
                <a:lnTo>
                  <a:pt x="0" y="7697380"/>
                </a:lnTo>
                <a:lnTo>
                  <a:pt x="0" y="0"/>
                </a:lnTo>
                <a:close/>
              </a:path>
            </a:pathLst>
          </a:custGeom>
          <a:blipFill>
            <a:blip r:embed="rId1"/>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028700" y="840105"/>
            <a:ext cx="76200" cy="915670"/>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6" name="Freeform 6"/>
          <p:cNvSpPr/>
          <p:nvPr/>
        </p:nvSpPr>
        <p:spPr>
          <a:xfrm rot="-8687136">
            <a:off x="4577987" y="4654787"/>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2" name="Group 12"/>
          <p:cNvGrpSpPr/>
          <p:nvPr/>
        </p:nvGrpSpPr>
        <p:grpSpPr>
          <a:xfrm rot="0">
            <a:off x="10630940" y="0"/>
            <a:ext cx="7451928" cy="10287000"/>
            <a:chOff x="0" y="0"/>
            <a:chExt cx="9935904" cy="13716000"/>
          </a:xfrm>
        </p:grpSpPr>
        <p:grpSp>
          <p:nvGrpSpPr>
            <p:cNvPr id="13" name="Group 13"/>
            <p:cNvGrpSpPr/>
            <p:nvPr/>
          </p:nvGrpSpPr>
          <p:grpSpPr>
            <a:xfrm rot="0">
              <a:off x="0" y="0"/>
              <a:ext cx="9634280" cy="13716000"/>
              <a:chOff x="0" y="0"/>
              <a:chExt cx="1119452" cy="1593725"/>
            </a:xfrm>
          </p:grpSpPr>
          <p:sp>
            <p:nvSpPr>
              <p:cNvPr id="14" name="Freeform 14"/>
              <p:cNvSpPr/>
              <p:nvPr/>
            </p:nvSpPr>
            <p:spPr>
              <a:xfrm>
                <a:off x="0" y="0"/>
                <a:ext cx="1119452" cy="1593725"/>
              </a:xfrm>
              <a:custGeom>
                <a:avLst/>
                <a:gdLst/>
                <a:ahLst/>
                <a:cxnLst/>
                <a:rect l="l" t="t" r="r" b="b"/>
                <a:pathLst>
                  <a:path w="1119452" h="1593725">
                    <a:moveTo>
                      <a:pt x="0" y="0"/>
                    </a:moveTo>
                    <a:lnTo>
                      <a:pt x="1119452" y="0"/>
                    </a:lnTo>
                    <a:lnTo>
                      <a:pt x="1119452" y="1593725"/>
                    </a:lnTo>
                    <a:lnTo>
                      <a:pt x="0" y="1593725"/>
                    </a:lnTo>
                    <a:close/>
                  </a:path>
                </a:pathLst>
              </a:custGeom>
              <a:blipFill>
                <a:blip r:embed="rId3"/>
                <a:stretch>
                  <a:fillRect t="-2127" b="-2127"/>
                </a:stretch>
              </a:blipFill>
            </p:spPr>
          </p:sp>
        </p:grpSp>
        <p:sp>
          <p:nvSpPr>
            <p:cNvPr id="15" name="AutoShape 15"/>
            <p:cNvSpPr/>
            <p:nvPr/>
          </p:nvSpPr>
          <p:spPr>
            <a:xfrm>
              <a:off x="9923204" y="0"/>
              <a:ext cx="0" cy="13716000"/>
            </a:xfrm>
            <a:prstGeom prst="line">
              <a:avLst/>
            </a:prstGeom>
            <a:ln w="25400" cap="rnd">
              <a:solidFill>
                <a:srgbClr val="3A58E4"/>
              </a:solidFill>
              <a:prstDash val="solid"/>
              <a:headEnd type="none" w="sm" len="sm"/>
              <a:tailEnd type="none" w="sm" len="sm"/>
            </a:ln>
          </p:spPr>
        </p:sp>
      </p:grpSp>
      <p:sp>
        <p:nvSpPr>
          <p:cNvPr id="16" name="TextBox 16"/>
          <p:cNvSpPr txBox="1"/>
          <p:nvPr/>
        </p:nvSpPr>
        <p:spPr>
          <a:xfrm>
            <a:off x="1219301" y="571193"/>
            <a:ext cx="5780387" cy="1229995"/>
          </a:xfrm>
          <a:prstGeom prst="rect">
            <a:avLst/>
          </a:prstGeom>
        </p:spPr>
        <p:txBody>
          <a:bodyPr lIns="0" tIns="0" rIns="0" bIns="0" rtlCol="0" anchor="t">
            <a:spAutoFit/>
          </a:bodyPr>
          <a:lstStyle/>
          <a:p>
            <a:pPr marL="0" lvl="0" indent="0" algn="l">
              <a:lnSpc>
                <a:spcPts val="9595"/>
              </a:lnSpc>
            </a:pPr>
            <a:r>
              <a:rPr lang="en-IN" altLang="en-US" sz="660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Results</a:t>
            </a:r>
            <a:r>
              <a:rPr lang="en-US" sz="660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 &amp; </a:t>
            </a:r>
            <a:r>
              <a:rPr lang="en-IN" altLang="en-US" sz="660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Benefits</a:t>
            </a:r>
            <a:endParaRPr lang="en-IN" altLang="en-US" sz="660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7" name="TextBox 17"/>
          <p:cNvSpPr txBox="1"/>
          <p:nvPr/>
        </p:nvSpPr>
        <p:spPr>
          <a:xfrm>
            <a:off x="914400" y="2019300"/>
            <a:ext cx="8392160" cy="8093075"/>
          </a:xfrm>
          <a:prstGeom prst="rect">
            <a:avLst/>
          </a:prstGeom>
        </p:spPr>
        <p:txBody>
          <a:bodyPr lIns="0" tIns="0" rIns="0" bIns="0" rtlCol="0" anchor="t">
            <a:noAutofit/>
          </a:bodyPr>
          <a:lstStyle/>
          <a:p>
            <a:pPr marL="0" lvl="0" indent="0" algn="just">
              <a:lnSpc>
                <a:spcPts val="2860"/>
              </a:lnSpc>
            </a:pPr>
            <a:r>
              <a:rPr lang="en-US" altLang="en-US" sz="3200" b="1" spc="-6">
                <a:solidFill>
                  <a:schemeClr val="accent1">
                    <a:lumMod val="75000"/>
                  </a:schemeClr>
                </a:solidFill>
                <a:latin typeface="Poppins" panose="00000500000000000000"/>
                <a:ea typeface="Poppins" panose="00000500000000000000"/>
                <a:cs typeface="Poppins" panose="00000500000000000000"/>
                <a:sym typeface="Poppins" panose="00000500000000000000"/>
              </a:rPr>
              <a:t>Results</a:t>
            </a:r>
            <a:endParaRPr lang="en-US" altLang="en-US" sz="3200" b="1" spc="-6">
              <a:solidFill>
                <a:schemeClr val="accent1">
                  <a:lumMod val="75000"/>
                </a:schemeClr>
              </a:solidFill>
              <a:latin typeface="Poppins" panose="00000500000000000000"/>
              <a:ea typeface="Poppins" panose="00000500000000000000"/>
              <a:cs typeface="Poppins" panose="00000500000000000000"/>
              <a:sym typeface="Poppins" panose="00000500000000000000"/>
            </a:endParaRPr>
          </a:p>
          <a:p>
            <a:pPr marL="342900" lvl="0" indent="-342900" algn="just">
              <a:lnSpc>
                <a:spcPts val="2860"/>
              </a:lnSpc>
              <a:buFont typeface="Arial" panose="020B0604020202020204" pitchFamily="34" charset="0"/>
              <a:buChar char="•"/>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Successfully predicts CPU, Memory, and Storage usage.</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342900" lvl="0" indent="-342900" algn="just">
              <a:lnSpc>
                <a:spcPts val="2860"/>
              </a:lnSpc>
              <a:buFont typeface="Arial" panose="020B0604020202020204" pitchFamily="34" charset="0"/>
              <a:buChar char="•"/>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Detects unusual resource usage patterns.</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342900" lvl="0" indent="-342900" algn="just">
              <a:lnSpc>
                <a:spcPts val="2860"/>
              </a:lnSpc>
              <a:buFont typeface="Arial" panose="020B0604020202020204" pitchFamily="34" charset="0"/>
              <a:buChar char="•"/>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Provides risk alerts and</a:t>
            </a:r>
            <a:r>
              <a:rPr lang="en-IN" altLang="en-US" sz="2045" spc="-6">
                <a:solidFill>
                  <a:srgbClr val="3A58E4"/>
                </a:solidFill>
                <a:latin typeface="Poppins" panose="00000500000000000000"/>
                <a:ea typeface="Poppins" panose="00000500000000000000"/>
                <a:cs typeface="Poppins" panose="00000500000000000000"/>
                <a:sym typeface="Poppins" panose="00000500000000000000"/>
              </a:rPr>
              <a:t> for</a:t>
            </a: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ecasting insights through a dashboard.</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342900" lvl="0" indent="-342900" algn="just">
              <a:lnSpc>
                <a:spcPts val="2860"/>
              </a:lnSpc>
              <a:buFont typeface="Arial" panose="020B0604020202020204" pitchFamily="34" charset="0"/>
              <a:buChar char="•"/>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Supports natural language queries for easy user interaction.</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just">
              <a:lnSpc>
                <a:spcPts val="2860"/>
              </a:lnSpc>
            </a:pP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just">
              <a:lnSpc>
                <a:spcPts val="2860"/>
              </a:lnSpc>
            </a:pPr>
            <a:r>
              <a:rPr lang="en-US" altLang="en-US" sz="3200" b="1" spc="-6">
                <a:solidFill>
                  <a:schemeClr val="accent1">
                    <a:lumMod val="75000"/>
                  </a:schemeClr>
                </a:solidFill>
                <a:latin typeface="Poppins" panose="00000500000000000000"/>
                <a:ea typeface="Poppins" panose="00000500000000000000"/>
                <a:cs typeface="Poppins" panose="00000500000000000000"/>
                <a:sym typeface="Poppins" panose="00000500000000000000"/>
              </a:rPr>
              <a:t>Benefits</a:t>
            </a:r>
            <a:endParaRPr lang="en-US" altLang="en-US" sz="3200" b="1" spc="-6">
              <a:solidFill>
                <a:schemeClr val="accent1">
                  <a:lumMod val="75000"/>
                </a:schemeClr>
              </a:solidFill>
              <a:latin typeface="Poppins" panose="00000500000000000000"/>
              <a:ea typeface="Poppins" panose="00000500000000000000"/>
              <a:cs typeface="Poppins" panose="00000500000000000000"/>
              <a:sym typeface="Poppins" panose="00000500000000000000"/>
            </a:endParaRPr>
          </a:p>
          <a:p>
            <a:pPr marL="342900" lvl="0" indent="-342900" algn="just">
              <a:lnSpc>
                <a:spcPts val="2860"/>
              </a:lnSpc>
              <a:buFont typeface="Arial" panose="020B0604020202020204" pitchFamily="34" charset="0"/>
              <a:buChar char="•"/>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Reduces manual monitoring effort.</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342900" lvl="0" indent="-342900" algn="just">
              <a:lnSpc>
                <a:spcPts val="2860"/>
              </a:lnSpc>
              <a:buFont typeface="Arial" panose="020B0604020202020204" pitchFamily="34" charset="0"/>
              <a:buChar char="•"/>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Helps prevent system downtime.</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342900" lvl="0" indent="-342900" algn="just">
              <a:lnSpc>
                <a:spcPts val="2860"/>
              </a:lnSpc>
              <a:buFont typeface="Arial" panose="020B0604020202020204" pitchFamily="34" charset="0"/>
              <a:buChar char="•"/>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Improves resource utilization and planning.</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342900" lvl="0" indent="-342900" algn="just">
              <a:lnSpc>
                <a:spcPts val="2860"/>
              </a:lnSpc>
              <a:buFont typeface="Arial" panose="020B0604020202020204" pitchFamily="34" charset="0"/>
              <a:buChar char="•"/>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Enables proactive decision-making.</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just">
              <a:lnSpc>
                <a:spcPts val="2860"/>
              </a:lnSpc>
            </a:pP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just">
              <a:lnSpc>
                <a:spcPts val="2860"/>
              </a:lnSpc>
            </a:pPr>
            <a:r>
              <a:rPr lang="en-US" altLang="en-US" sz="2800" b="1" spc="-6">
                <a:solidFill>
                  <a:schemeClr val="accent1">
                    <a:lumMod val="75000"/>
                  </a:schemeClr>
                </a:solidFill>
                <a:latin typeface="Poppins" panose="00000500000000000000"/>
                <a:ea typeface="Poppins" panose="00000500000000000000"/>
                <a:cs typeface="Poppins" panose="00000500000000000000"/>
                <a:sym typeface="Poppins" panose="00000500000000000000"/>
              </a:rPr>
              <a:t>Conclusion</a:t>
            </a:r>
            <a:endParaRPr lang="en-US" altLang="en-US" sz="2800" b="1" spc="-6">
              <a:solidFill>
                <a:schemeClr val="accent1">
                  <a:lumMod val="75000"/>
                </a:schemeClr>
              </a:solidFill>
              <a:latin typeface="Poppins" panose="00000500000000000000"/>
              <a:ea typeface="Poppins" panose="00000500000000000000"/>
              <a:cs typeface="Poppins" panose="00000500000000000000"/>
              <a:sym typeface="Poppins" panose="00000500000000000000"/>
            </a:endParaRPr>
          </a:p>
          <a:p>
            <a:pPr marL="0" lvl="0" indent="0" algn="just">
              <a:lnSpc>
                <a:spcPts val="2860"/>
              </a:lnSpc>
            </a:pPr>
            <a:r>
              <a:rPr lang="en-US" altLang="en-US" sz="2045" spc="-6">
                <a:solidFill>
                  <a:srgbClr val="3A58E4"/>
                </a:solidFill>
                <a:latin typeface="Poppins" panose="00000500000000000000"/>
                <a:ea typeface="Poppins" panose="00000500000000000000"/>
                <a:cs typeface="Poppins" panose="00000500000000000000"/>
                <a:sym typeface="Poppins" panose="00000500000000000000"/>
              </a:rPr>
              <a:t>AI Capacity Forecaster predicts future CPU, Memory, and Storage usage using historical data.It identifies potential issues early and predicts the date when resources may reach critical levels.The system provides alerts and insights through an interactive dashboard.</a:t>
            </a: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just">
              <a:lnSpc>
                <a:spcPts val="2860"/>
              </a:lnSpc>
            </a:pPr>
            <a:endParaRPr lang="en-US" altLang="en-US" sz="2045" spc="-6">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8" name="Freeform 18"/>
          <p:cNvSpPr/>
          <p:nvPr/>
        </p:nvSpPr>
        <p:spPr>
          <a:xfrm>
            <a:off x="9455662" y="7848788"/>
            <a:ext cx="2479908" cy="482455"/>
          </a:xfrm>
          <a:custGeom>
            <a:avLst/>
            <a:gdLst/>
            <a:ahLst/>
            <a:cxnLst/>
            <a:rect l="l" t="t" r="r" b="b"/>
            <a:pathLst>
              <a:path w="2479908" h="482455">
                <a:moveTo>
                  <a:pt x="0" y="0"/>
                </a:moveTo>
                <a:lnTo>
                  <a:pt x="2479908" y="0"/>
                </a:lnTo>
                <a:lnTo>
                  <a:pt x="2479908" y="482455"/>
                </a:lnTo>
                <a:lnTo>
                  <a:pt x="0" y="482455"/>
                </a:lnTo>
                <a:lnTo>
                  <a:pt x="0" y="0"/>
                </a:lnTo>
                <a:close/>
              </a:path>
            </a:pathLst>
          </a:custGeom>
          <a:blipFill>
            <a:blip r:embed="rId4"/>
            <a:stretch>
              <a:fillRect/>
            </a:stretch>
          </a:blipFill>
        </p:spPr>
      </p:sp>
      <p:grpSp>
        <p:nvGrpSpPr>
          <p:cNvPr id="19" name="Group 19"/>
          <p:cNvGrpSpPr/>
          <p:nvPr/>
        </p:nvGrpSpPr>
        <p:grpSpPr>
          <a:xfrm rot="0">
            <a:off x="9545918" y="5831999"/>
            <a:ext cx="2270445" cy="2267600"/>
            <a:chOff x="0" y="0"/>
            <a:chExt cx="567580" cy="566868"/>
          </a:xfrm>
        </p:grpSpPr>
        <p:sp>
          <p:nvSpPr>
            <p:cNvPr id="20" name="Freeform 20"/>
            <p:cNvSpPr/>
            <p:nvPr/>
          </p:nvSpPr>
          <p:spPr>
            <a:xfrm>
              <a:off x="0" y="0"/>
              <a:ext cx="567580" cy="566868"/>
            </a:xfrm>
            <a:custGeom>
              <a:avLst/>
              <a:gdLst/>
              <a:ahLst/>
              <a:cxnLst/>
              <a:rect l="l" t="t" r="r" b="b"/>
              <a:pathLst>
                <a:path w="567580" h="566868">
                  <a:moveTo>
                    <a:pt x="153444" y="0"/>
                  </a:moveTo>
                  <a:lnTo>
                    <a:pt x="414136" y="0"/>
                  </a:lnTo>
                  <a:cubicBezTo>
                    <a:pt x="498880" y="0"/>
                    <a:pt x="567580" y="68699"/>
                    <a:pt x="567580" y="153444"/>
                  </a:cubicBezTo>
                  <a:lnTo>
                    <a:pt x="567580" y="413424"/>
                  </a:lnTo>
                  <a:cubicBezTo>
                    <a:pt x="567580" y="454120"/>
                    <a:pt x="551413" y="493149"/>
                    <a:pt x="522637" y="521926"/>
                  </a:cubicBezTo>
                  <a:cubicBezTo>
                    <a:pt x="493861" y="550702"/>
                    <a:pt x="454831" y="566868"/>
                    <a:pt x="414136" y="566868"/>
                  </a:cubicBezTo>
                  <a:lnTo>
                    <a:pt x="153444" y="566868"/>
                  </a:lnTo>
                  <a:cubicBezTo>
                    <a:pt x="112748" y="566868"/>
                    <a:pt x="73719" y="550702"/>
                    <a:pt x="44943" y="521926"/>
                  </a:cubicBezTo>
                  <a:cubicBezTo>
                    <a:pt x="16166" y="493149"/>
                    <a:pt x="0" y="454120"/>
                    <a:pt x="0" y="413424"/>
                  </a:cubicBezTo>
                  <a:lnTo>
                    <a:pt x="0" y="153444"/>
                  </a:lnTo>
                  <a:cubicBezTo>
                    <a:pt x="0" y="112748"/>
                    <a:pt x="16166" y="73719"/>
                    <a:pt x="44943" y="44943"/>
                  </a:cubicBezTo>
                  <a:cubicBezTo>
                    <a:pt x="73719" y="16166"/>
                    <a:pt x="112748" y="0"/>
                    <a:pt x="153444"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21" name="TextBox 21"/>
            <p:cNvSpPr txBox="1"/>
            <p:nvPr/>
          </p:nvSpPr>
          <p:spPr>
            <a:xfrm>
              <a:off x="0" y="28575"/>
              <a:ext cx="567580" cy="538293"/>
            </a:xfrm>
            <a:prstGeom prst="rect">
              <a:avLst/>
            </a:prstGeom>
          </p:spPr>
          <p:txBody>
            <a:bodyPr lIns="51111" tIns="51111" rIns="51111" bIns="51111" rtlCol="0" anchor="ctr"/>
            <a:lstStyle/>
            <a:p>
              <a:pPr marL="0" lvl="0" indent="0" algn="ctr">
                <a:lnSpc>
                  <a:spcPts val="2460"/>
                </a:lnSpc>
              </a:pPr>
            </a:p>
          </p:txBody>
        </p:sp>
      </p:grpSp>
      <p:sp>
        <p:nvSpPr>
          <p:cNvPr id="22" name="TextBox 22"/>
          <p:cNvSpPr txBox="1"/>
          <p:nvPr/>
        </p:nvSpPr>
        <p:spPr>
          <a:xfrm>
            <a:off x="9904370" y="6340300"/>
            <a:ext cx="1582493" cy="516979"/>
          </a:xfrm>
          <a:prstGeom prst="rect">
            <a:avLst/>
          </a:prstGeom>
        </p:spPr>
        <p:txBody>
          <a:bodyPr lIns="0" tIns="0" rIns="0" bIns="0" rtlCol="0" anchor="t">
            <a:spAutoFit/>
          </a:bodyPr>
          <a:lstStyle/>
          <a:p>
            <a:pPr marL="0" lvl="0" indent="0" algn="ctr">
              <a:lnSpc>
                <a:spcPts val="3875"/>
              </a:lnSpc>
            </a:pPr>
            <a:r>
              <a:rPr lang="en-US" sz="3915" b="1" spc="-117">
                <a:solidFill>
                  <a:srgbClr val="FFFFFF"/>
                </a:solidFill>
                <a:latin typeface="Bricolage Grotesque Bold" panose="020B0605040402000204"/>
                <a:ea typeface="Bricolage Grotesque Bold" panose="020B0605040402000204"/>
                <a:cs typeface="Bricolage Grotesque Bold" panose="020B0605040402000204"/>
                <a:sym typeface="Bricolage Grotesque Bold" panose="020B0605040402000204"/>
              </a:rPr>
              <a:t>95%</a:t>
            </a:r>
            <a:endParaRPr lang="en-US" sz="3915" b="1" spc="-117">
              <a:solidFill>
                <a:srgbClr val="FFFFFF"/>
              </a:soli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
        <p:nvSpPr>
          <p:cNvPr id="23" name="TextBox 23"/>
          <p:cNvSpPr txBox="1"/>
          <p:nvPr/>
        </p:nvSpPr>
        <p:spPr>
          <a:xfrm>
            <a:off x="10056286" y="6904782"/>
            <a:ext cx="1278661" cy="754775"/>
          </a:xfrm>
          <a:prstGeom prst="rect">
            <a:avLst/>
          </a:prstGeom>
        </p:spPr>
        <p:txBody>
          <a:bodyPr lIns="0" tIns="0" rIns="0" bIns="0" rtlCol="0" anchor="t">
            <a:spAutoFit/>
          </a:bodyPr>
          <a:lstStyle/>
          <a:p>
            <a:pPr marL="0" lvl="0" indent="0" algn="ctr">
              <a:lnSpc>
                <a:spcPts val="2040"/>
              </a:lnSpc>
            </a:pPr>
            <a:r>
              <a:rPr lang="en-US" sz="1455" spc="-36">
                <a:solidFill>
                  <a:srgbClr val="FFFFFF"/>
                </a:solidFill>
                <a:latin typeface="Poppins" panose="00000500000000000000"/>
                <a:ea typeface="Poppins" panose="00000500000000000000"/>
                <a:cs typeface="Poppins" panose="00000500000000000000"/>
                <a:sym typeface="Poppins" panose="00000500000000000000"/>
              </a:rPr>
              <a:t>FORECAST ACCURACY RATE</a:t>
            </a:r>
            <a:endParaRPr lang="en-US" sz="1455" spc="-36">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6128</Words>
  <Application>WPS Presentation</Application>
  <PresentationFormat>On-screen Show (4:3)</PresentationFormat>
  <Paragraphs>229</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Poppins Bold</vt:lpstr>
      <vt:lpstr>Poppins</vt:lpstr>
      <vt:lpstr>Bricolage Grotesque</vt:lpstr>
      <vt:lpstr>Bricolage Grotesque Bold</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Sreeja Pendyala</cp:lastModifiedBy>
  <cp:revision>4</cp:revision>
  <dcterms:created xsi:type="dcterms:W3CDTF">2006-08-16T00:00:00Z</dcterms:created>
  <dcterms:modified xsi:type="dcterms:W3CDTF">2026-06-18T04:43:31Z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8901B0DEDA454D7A97C0AC9588E6AF99_13</vt:lpwstr>
  </property>
</Properties>
</file>